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75380a064c24f46" /><Relationship Type="http://schemas.openxmlformats.org/officeDocument/2006/relationships/extended-properties" Target="/docProps/app.xml" Id="Rf005a1baa57e4418" /><Relationship Type="http://schemas.openxmlformats.org/officeDocument/2006/relationships/officeDocument" Target="/ppt/presentation.xml" Id="Rc0530b9961164247" /></Relationships>
</file>

<file path=ppt/presentation.xml><?xml version="1.0" encoding="utf-8"?>
<p:presentation xmlns:p="http://schemas.openxmlformats.org/presentationml/2006/main">
  <p:sldMasterIdLst>
    <p:sldMasterId xmlns:r="http://schemas.openxmlformats.org/officeDocument/2006/relationships" id="2147483648" r:id="R17d51c6310124dc5"/>
  </p:sldMasterIdLst>
  <p:notesMasterIdLst>
    <p:notesMasterId xmlns:r="http://schemas.openxmlformats.org/officeDocument/2006/relationships" r:id="R61df7c60bc224fac"/>
  </p:notesMasterIdLst>
  <p:sldIdLst>
    <p:sldId xmlns:r="http://schemas.openxmlformats.org/officeDocument/2006/relationships" id="256" r:id="R086e51576d744e18"/>
    <p:sldId xmlns:r="http://schemas.openxmlformats.org/officeDocument/2006/relationships" id="257" r:id="R7f2c35e346b84692"/>
    <p:sldId xmlns:r="http://schemas.openxmlformats.org/officeDocument/2006/relationships" id="258" r:id="R3e20aa6c54984348"/>
    <p:sldId xmlns:r="http://schemas.openxmlformats.org/officeDocument/2006/relationships" id="259" r:id="R4728d8688e8242b6"/>
    <p:sldId xmlns:r="http://schemas.openxmlformats.org/officeDocument/2006/relationships" id="260" r:id="Re4e33f49cb8d42a4"/>
    <p:sldId xmlns:r="http://schemas.openxmlformats.org/officeDocument/2006/relationships" id="261" r:id="R9152d171860a452e"/>
    <p:sldId xmlns:r="http://schemas.openxmlformats.org/officeDocument/2006/relationships" id="262" r:id="R9ac22ac71a134e0a"/>
    <p:sldId xmlns:r="http://schemas.openxmlformats.org/officeDocument/2006/relationships" id="263" r:id="Rc31d75644d0a49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eef2cd368c49b0" /><Relationship Type="http://schemas.openxmlformats.org/officeDocument/2006/relationships/slideMaster" Target="/ppt/slideMasters/slideMaster1.xml" Id="R17d51c6310124dc5" /><Relationship Type="http://schemas.openxmlformats.org/officeDocument/2006/relationships/notesMaster" Target="/ppt/notesMasters/notesMaster1.xml" Id="R61df7c60bc224fac" /><Relationship Type="http://schemas.openxmlformats.org/officeDocument/2006/relationships/presProps" Target="/ppt/presProps.xml" Id="R6cc5c07f8c504e88" /><Relationship Type="http://schemas.openxmlformats.org/officeDocument/2006/relationships/tableStyles" Target="/ppt/tableStyles.xml" Id="Rad9a7cff1db44751" /><Relationship Type="http://schemas.openxmlformats.org/officeDocument/2006/relationships/slide" Target="/ppt/slides/slide1.xml" Id="R086e51576d744e18" /><Relationship Type="http://schemas.openxmlformats.org/officeDocument/2006/relationships/slide" Target="/ppt/slides/slide2.xml" Id="R7f2c35e346b84692" /><Relationship Type="http://schemas.openxmlformats.org/officeDocument/2006/relationships/slide" Target="/ppt/slides/slide3.xml" Id="R3e20aa6c54984348" /><Relationship Type="http://schemas.openxmlformats.org/officeDocument/2006/relationships/slide" Target="/ppt/slides/slide4.xml" Id="R4728d8688e8242b6" /><Relationship Type="http://schemas.openxmlformats.org/officeDocument/2006/relationships/slide" Target="/ppt/slides/slide5.xml" Id="Re4e33f49cb8d42a4" /><Relationship Type="http://schemas.openxmlformats.org/officeDocument/2006/relationships/slide" Target="/ppt/slides/slide6.xml" Id="R9152d171860a452e" /><Relationship Type="http://schemas.openxmlformats.org/officeDocument/2006/relationships/slide" Target="/ppt/slides/slide7.xml" Id="R9ac22ac71a134e0a" /><Relationship Type="http://schemas.openxmlformats.org/officeDocument/2006/relationships/slide" Target="/ppt/slides/slide8.xml" Id="Rc31d75644d0a49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72078310ca46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a100d50f324c0a" /><Relationship Type="http://schemas.openxmlformats.org/officeDocument/2006/relationships/notesMaster" Target="/ppt/notesMasters/notesMaster1.xml" Id="R2b381b92a1224c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898b0592bc401d" /><Relationship Type="http://schemas.openxmlformats.org/officeDocument/2006/relationships/notesMaster" Target="/ppt/notesMasters/notesMaster1.xml" Id="R8215f561e52744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b39afdfae94b5b" /><Relationship Type="http://schemas.openxmlformats.org/officeDocument/2006/relationships/notesMaster" Target="/ppt/notesMasters/notesMaster1.xml" Id="Rf55d737efe1240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de5513290b41ac" /><Relationship Type="http://schemas.openxmlformats.org/officeDocument/2006/relationships/notesMaster" Target="/ppt/notesMasters/notesMaster1.xml" Id="Rd3d6628da9ad42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bb7a6f1a66497f" /><Relationship Type="http://schemas.openxmlformats.org/officeDocument/2006/relationships/notesMaster" Target="/ppt/notesMasters/notesMaster1.xml" Id="R9b307e7a2fe940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f97e20086c4dca" /><Relationship Type="http://schemas.openxmlformats.org/officeDocument/2006/relationships/notesMaster" Target="/ppt/notesMasters/notesMaster1.xml" Id="Ra9236f7ead564b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9e5a2c7d0d4c94" /><Relationship Type="http://schemas.openxmlformats.org/officeDocument/2006/relationships/notesMaster" Target="/ppt/notesMasters/notesMaster1.xml" Id="Rdaef85f0210842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2e3592fc014ec4" /><Relationship Type="http://schemas.openxmlformats.org/officeDocument/2006/relationships/notesMaster" Target="/ppt/notesMasters/notesMaster1.xml" Id="Rc74d2c7e691b48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sạch có 4 detection thuộc nhóm đối tượng giao thông. Benchmark dùng ảnh demo, không phải tập KITTI của paper. Trình bày như case study nhỏ.</a:t>
            </a:r>
          </a:p>
          <a:p xmlns:a="http://schemas.openxmlformats.org/drawingml/2006/main">
            <a:r>
              <a:t>Nguồn benchmark: camera_health_lab_results.zip do người dùng cung cấp, per_image_metrics.csv và config.json. Nguồn ảnh gốc: https://ultralytics.com/images/bus.jpg.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Safety-Critical Camera Reliability Monitoring for ADAS via Degradation-Aware Uncertainty Pattern Analysis, arXiv:2605.05439v1. https://arxiv.org/html/2605.05439v1, III-A, IV-F, Table I và VI. Dùng trọng số 1.05 đã làm tròn như Table I. H* được tính từ severity do simulator cung cấp, không dự đoán từ ảnh. Các phép sinh ảnh của nhóm khác simulator physics-aware của tác giả.</a:t>
            </a:r>
          </a:p>
          <a:p xmlns:a="http://schemas.openxmlformats.org/drawingml/2006/main">
            <a:r>
              <a:t>Nguồn benchmark: camera_health_lab_results.zip do người dùng cung cấp, per_image_metrics.csv và config.json. Nguồn ảnh gốc: https://ultralytics.com/images/bus.jpg.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 definitions lấy từ notebook và config. Health proxy dùng ảnh sạch tham chiếu, clip các thành phần về [0,1]. Vì vậy khác learned single-image monitor trong paper. Clean-box retention ghép cùng class và IoU&gt;=0.5, mẫu số là 4 prediction ảnh sạch. Không phải recall ground truth.</a:t>
            </a:r>
          </a:p>
          <a:p xmlns:a="http://schemas.openxmlformats.org/drawingml/2006/main">
            <a:r>
              <a:t>Nguồn benchmark: camera_health_lab_results.zip do người dùng cung cấp, per_image_metrics.csv và config.json. Nguồn ảnh gốc: https://ultralytics.com/images/bus.jpg.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Laplacian clean 2702.100909, motion blur s=1:132.096191. Health proxy .048886, retention .5, 2 detections. Ở s=.25 proxy .145552 nhưng retention vẫn1. Không gọi đây là early warning theo paper vì không có mAP và đây là reference-based proxy.</a:t>
            </a:r>
          </a:p>
          <a:p xmlns:a="http://schemas.openxmlformats.org/drawingml/2006/main">
            <a:r>
              <a:t>Nguồn benchmark: camera_health_lab_results.zip do người dùng cung cấp, per_image_metrics.csv và config.json. Nguồn ảnh gốc: https://ultralytics.com/images/bus.jpg.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low_light severity1 dark_ratio=.926618, health_proxy=.000840, detections5, retention1, matched_confidence=.774502. Confidence của 4 boxes ghép sạch vẫn cao. Không suy ra ảnh tối luôn an toàn hoặc detector accuracy tốt vì không có ground truth. Mapping lowlight chỉ nhân intensity, không mô phỏng photon starvation đầy đủ.</a:t>
            </a:r>
          </a:p>
          <a:p xmlns:a="http://schemas.openxmlformats.org/drawingml/2006/main">
            <a:r>
              <a:t>Nguồn benchmark: camera_health_lab_results.zip do người dùng cung cấp, per_image_metrics.csv và config.json. Nguồn ảnh gốc: https://ultralytics.com/images/bus.jpg.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Failure case lấy từ measured data, không suy đoán. motion_blur .75 Lap177.265773 proxy .065603 retention1 entropy7.776353. blur_noise .75 Lap7708.150950 proxy1 retention0 detections0 entropy7.847574. GSHI target của mixed degradation .027584 là nhãn biết trước, không phải estimated score.</a:t>
            </a:r>
          </a:p>
          <a:p xmlns:a="http://schemas.openxmlformats.org/drawingml/2006/main">
            <a:r>
              <a:t>Nguồn benchmark: camera_health_lab_results.zip do người dùng cung cấp, per_image_metrics.csv và config.json. Nguồn ảnh gốc: https://ultralytics.com/images/bus.jpg.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Đồ thị lấy tất cả modes tại severity1. Proxy [.048886,.000840,.996760,.386635,1]; retention [.5,1,.75,1,0]. Retention có thể bỏ qua false positives hoặc lỗi clean predictions. Chỉ một ảnh, không có error bars hoặc tuyên bố ý nghĩa thống kê.</a:t>
            </a:r>
          </a:p>
          <a:p xmlns:a="http://schemas.openxmlformats.org/drawingml/2006/main">
            <a:r>
              <a:t>Nguồn benchmark: camera_health_lab_results.zip do người dùng cung cấp, per_image_metrics.csv và config.json. Nguồn ảnh gốc: https://ultralytics.com/images/bus.jpg.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down-weight là nhận xét lab, không phải chính sách safety đã xác minh. Threshold proxy=.6 do nhóm chọn có thể bỏ sót mixed-noise failure; không dùng nó đơn độc. Phần tái hiện hoàn thành công thức GSHI và severity sweep. Paper https://arxiv.org/html/2605.05439v1 có learned monitor và detector-coupled evaluation rộng hơn; không khẳng định benchmark này tái hiện kết quả tác giả.</a:t>
            </a:r>
          </a:p>
          <a:p xmlns:a="http://schemas.openxmlformats.org/drawingml/2006/main">
            <a:r>
              <a:t>Nguồn benchmark: camera_health_lab_results.zip do người dùng cung cấp, per_image_metrics.csv và config.json. Nguồn ảnh gốc: https://ultralytics.com/images/bus.jpg.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f7096260f641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eb59c7b5ba45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c54548c29a140b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0cf88da444b48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f20cdb6024446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baaf18910f24b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2C2B566-1BEC-4063-9B06-58CD6AC914BE}"/>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FE90358-FA1E-44FE-A2CF-E4A7C26333F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EE54FC51-98BD-4947-8127-39ED7B08ED3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77333613-1472-420B-8E62-66DA2DAF8106}"/>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BD0C6289-F8A9-4AAF-AF2B-17F0928592F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5810C08F-076F-455F-A961-5767D3FB8336}"/>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8BB03DB-1711-4BB7-BDD6-0BCCEA12B0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A0F3DBA5-4B9E-4A98-896D-70BEEE5CC6A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8ECBD327-6B11-4F4C-B377-847138F464A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97E00F5-CAB7-4939-A197-76FEF02F79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723CB0AA-BD17-4682-9DAD-3CC598C6132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906A9644-F305-4F3F-A8E1-3D97DDF540D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304A919-D900-48CF-9905-E254E0C9603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117C057-EE2A-4D9D-8206-0883370A1B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08BD63C5-EEBC-4C66-A778-B39FABBE49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2fbdd98ee44cbc" /><Relationship Type="http://schemas.openxmlformats.org/officeDocument/2006/relationships/slideLayout" Target="/ppt/slideLayouts/slideLayout1.xml" Id="R1dd9c936f6f44022" /><Relationship Type="http://schemas.openxmlformats.org/officeDocument/2006/relationships/slideLayout" Target="/ppt/slideLayouts/slideLayout2.xml" Id="Rf96737273ca94519" /><Relationship Type="http://schemas.openxmlformats.org/officeDocument/2006/relationships/slideLayout" Target="/ppt/slideLayouts/slideLayout3.xml" Id="R953f114c0e5b42fd" /><Relationship Type="http://schemas.openxmlformats.org/officeDocument/2006/relationships/slideLayout" Target="/ppt/slideLayouts/slideLayout4.xml" Id="R8d6713e28af94553" /><Relationship Type="http://schemas.openxmlformats.org/officeDocument/2006/relationships/slideLayout" Target="/ppt/slideLayouts/slideLayout5.xml" Id="R84a61ad7322d4361" /><Relationship Type="http://schemas.openxmlformats.org/officeDocument/2006/relationships/slideLayout" Target="/ppt/slideLayouts/slideLayout6.xml" Id="R7489960d6c1a4f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d9c936f6f44022"/>
    <p:sldLayoutId xmlns:r="http://schemas.openxmlformats.org/officeDocument/2006/relationships" id="2147483650" r:id="Rf96737273ca94519"/>
    <p:sldLayoutId xmlns:r="http://schemas.openxmlformats.org/officeDocument/2006/relationships" id="2147483651" r:id="R953f114c0e5b42fd"/>
    <p:sldLayoutId xmlns:r="http://schemas.openxmlformats.org/officeDocument/2006/relationships" id="2147483652" r:id="R8d6713e28af94553"/>
    <p:sldLayoutId xmlns:r="http://schemas.openxmlformats.org/officeDocument/2006/relationships" id="2147483653" r:id="R84a61ad7322d4361"/>
    <p:sldLayoutId xmlns:r="http://schemas.openxmlformats.org/officeDocument/2006/relationships" id="2147483654" r:id="R7489960d6c1a4f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f9628a9f5f4a74" /><Relationship Type="http://schemas.openxmlformats.org/officeDocument/2006/relationships/image" Target="/ppt/media/image.png" Id="R8518c9aa52864e12" /><Relationship Type="http://schemas.openxmlformats.org/officeDocument/2006/relationships/notesSlide" Target="/ppt/notesSlides/notesSlide1.xml" Id="R4187f3acb3d74b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bc642689cf64eb5" /><Relationship Type="http://schemas.openxmlformats.org/officeDocument/2006/relationships/notesSlide" Target="/ppt/notesSlides/notesSlide2.xml" Id="R388f1f09e31f44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08d557ef7eb4e75" /><Relationship Type="http://schemas.openxmlformats.org/officeDocument/2006/relationships/notesSlide" Target="/ppt/notesSlides/notesSlide3.xml" Id="Rf9970bcacb524c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f42229d8fd64602" /><Relationship Type="http://schemas.openxmlformats.org/officeDocument/2006/relationships/image" Target="/ppt/media/image2.png" Id="R86cbf789283449aa" /><Relationship Type="http://schemas.openxmlformats.org/officeDocument/2006/relationships/image" Target="/ppt/media/image3.png" Id="Rf82b6108286a436c" /><Relationship Type="http://schemas.openxmlformats.org/officeDocument/2006/relationships/chart" Target="/ppt/slides/charts/chart1.xml" Id="Rbfeaa213b056417e" /><Relationship Type="http://schemas.openxmlformats.org/officeDocument/2006/relationships/notesSlide" Target="/ppt/notesSlides/notesSlide4.xml" Id="R3141400209344c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24ced434b5e4c22" /><Relationship Type="http://schemas.openxmlformats.org/officeDocument/2006/relationships/image" Target="/ppt/media/image4.png" Id="R373b91e7c75a4f5d" /><Relationship Type="http://schemas.openxmlformats.org/officeDocument/2006/relationships/chart" Target="/ppt/slides/charts/chart2.xml" Id="R95084cd6201e41d1" /><Relationship Type="http://schemas.openxmlformats.org/officeDocument/2006/relationships/notesSlide" Target="/ppt/notesSlides/notesSlide5.xml" Id="R6294453127094f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663e926c5164f47" /><Relationship Type="http://schemas.openxmlformats.org/officeDocument/2006/relationships/image" Target="/ppt/media/image5.png" Id="Rc09a3edf433d4225" /><Relationship Type="http://schemas.openxmlformats.org/officeDocument/2006/relationships/image" Target="/ppt/media/image6.png" Id="Rf9a1e600d65b4280" /><Relationship Type="http://schemas.openxmlformats.org/officeDocument/2006/relationships/notesSlide" Target="/ppt/notesSlides/notesSlide6.xml" Id="Ra2e8a7be36c74e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a2837e3d8384bde" /><Relationship Type="http://schemas.openxmlformats.org/officeDocument/2006/relationships/chart" Target="/ppt/slides/charts/chart3.xml" Id="R7f3114681e534640" /><Relationship Type="http://schemas.openxmlformats.org/officeDocument/2006/relationships/notesSlide" Target="/ppt/notesSlides/notesSlide7.xml" Id="Rbf9e6f8111d84a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48f1390e4d6499d" /><Relationship Type="http://schemas.openxmlformats.org/officeDocument/2006/relationships/notesSlide" Target="/ppt/notesSlides/notesSlide8.xml" Id="Ra6d4abd2a31d4c3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Health proxy</c:v>
          </c:tx>
          <c:spPr>
            <a:ln xmlns:a="http://schemas.openxmlformats.org/drawingml/2006/main" w="28575">
              <a:solidFill>
                <a:srgbClr val="176B9B"/>
              </a:solidFill>
            </a:ln>
          </c:spPr>
          <c:marker>
            <c:symbol val="circle"/>
            <c:size val="7"/>
          </c:marker>
          <c:cat>
            <c:strRef>
              <c:f>'Chart Data'!$A$2:$A$6</c:f>
              <c:strCache>
                <c:ptCount val="5"/>
                <c:pt idx="0">
                  <c:v>0</c:v>
                </c:pt>
                <c:pt idx="1">
                  <c:v>0,25</c:v>
                </c:pt>
                <c:pt idx="2">
                  <c:v>0,50</c:v>
                </c:pt>
                <c:pt idx="3">
                  <c:v>0,75</c:v>
                </c:pt>
                <c:pt idx="4">
                  <c:v>1,00</c:v>
                </c:pt>
              </c:strCache>
            </c:strRef>
          </c:cat>
          <c:val>
            <c:numRef>
              <c:f>'Chart Data'!$B$2:$B$6</c:f>
              <c:numCache>
                <c:formatCode>0.00</c:formatCode>
                <c:ptCount val="5"/>
                <c:pt idx="0">
                  <c:v>1</c:v>
                </c:pt>
                <c:pt idx="1">
                  <c:v>0.1455520119</c:v>
                </c:pt>
                <c:pt idx="2">
                  <c:v>0.0861292171</c:v>
                </c:pt>
                <c:pt idx="3">
                  <c:v>0.0656029433</c:v>
                </c:pt>
                <c:pt idx="4">
                  <c:v>0.0488864758</c:v>
                </c:pt>
              </c:numCache>
            </c:numRef>
          </c:val>
          <c:smooth val="0"/>
        </c:ser>
        <c:ser>
          <c:idx val="1"/>
          <c:order val="1"/>
          <c:tx>
            <c:v>Giữ box</c:v>
          </c:tx>
          <c:spPr>
            <a:ln xmlns:a="http://schemas.openxmlformats.org/drawingml/2006/main" w="28575">
              <a:solidFill>
                <a:srgbClr val="D56B33"/>
              </a:solidFill>
            </a:ln>
          </c:spPr>
          <c:marker>
            <c:symbol val="circle"/>
            <c:size val="7"/>
          </c:marker>
          <c:cat>
            <c:strRef>
              <c:f>'Chart Data'!$C$2:$C$6</c:f>
              <c:strCache>
                <c:ptCount val="5"/>
                <c:pt idx="0">
                  <c:v>0</c:v>
                </c:pt>
                <c:pt idx="1">
                  <c:v>0,25</c:v>
                </c:pt>
                <c:pt idx="2">
                  <c:v>0,50</c:v>
                </c:pt>
                <c:pt idx="3">
                  <c:v>0,75</c:v>
                </c:pt>
                <c:pt idx="4">
                  <c:v>1,00</c:v>
                </c:pt>
              </c:strCache>
            </c:strRef>
          </c:cat>
          <c:val>
            <c:numRef>
              <c:f>'Chart Data'!$D$2:$D$6</c:f>
              <c:numCache>
                <c:formatCode>0.00</c:formatCode>
                <c:ptCount val="5"/>
                <c:pt idx="0">
                  <c:v>1</c:v>
                </c:pt>
                <c:pt idx="1">
                  <c:v>1</c:v>
                </c:pt>
                <c:pt idx="2">
                  <c:v>1</c:v>
                </c:pt>
                <c:pt idx="3">
                  <c:v>1</c:v>
                </c:pt>
                <c:pt idx="4">
                  <c:v>0.5</c:v>
                </c:pt>
              </c:numCache>
            </c:numRef>
          </c:val>
          <c:smooth val="0"/>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Severity</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Bitstream Charter"/>
                <a:ea typeface="Bitstream Charter"/>
                <a:cs typeface="Bitstream Charter"/>
              </a:defRPr>
            </a:pPr>
          </a:p>
        </c:txPr>
        <c:crossAx val="48672768"/>
      </c:catAx>
      <c:valAx>
        <c:axId val="48672768"/>
        <c:scaling>
          <c:orientation val="minMax"/>
          <c:max val="1"/>
          <c:min val="0"/>
        </c:scaling>
        <c:delete val="0"/>
        <c:axPos val="l"/>
        <c:majorGridlines>
          <c:spPr>
            <a:ln xmlns:a="http://schemas.openxmlformats.org/drawingml/2006/main" w="9525">
              <a:solidFill>
                <a:srgbClr val="DFE6EB"/>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Bitstream Charter"/>
                <a:ea typeface="Bitstream Charter"/>
                <a:cs typeface="Bitstream Charter"/>
              </a:defRPr>
            </a:pPr>
          </a:p>
        </c:txPr>
        <c:crossAx val="48650112"/>
        <c:crossBetween val="between"/>
        <c:majorUnit val="0.25"/>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Bitstream Charter"/>
              <a:ea typeface="Bitstream Charter"/>
              <a:cs typeface="Bitstream Charter"/>
            </a:defRPr>
          </a:pPr>
        </a:p>
      </c:txPr>
    </c:legend>
    <c:plotVisOnly val="1"/>
  </c:chart>
  <c:spPr>
    <a:solidFill xmlns:a="http://schemas.openxmlformats.org/drawingml/2006/main">
      <a:srgbClr val="FAFBFC"/>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Health proxy</c:v>
          </c:tx>
          <c:spPr>
            <a:ln xmlns:a="http://schemas.openxmlformats.org/drawingml/2006/main" w="28575">
              <a:solidFill>
                <a:srgbClr val="176B9B"/>
              </a:solidFill>
            </a:ln>
          </c:spPr>
          <c:marker>
            <c:symbol val="circle"/>
            <c:size val="7"/>
          </c:marker>
          <c:cat>
            <c:strRef>
              <c:f>'Chart Data'!$A$2:$A$6</c:f>
              <c:strCache>
                <c:ptCount val="5"/>
                <c:pt idx="0">
                  <c:v>0</c:v>
                </c:pt>
                <c:pt idx="1">
                  <c:v>0,25</c:v>
                </c:pt>
                <c:pt idx="2">
                  <c:v>0,50</c:v>
                </c:pt>
                <c:pt idx="3">
                  <c:v>0,75</c:v>
                </c:pt>
                <c:pt idx="4">
                  <c:v>1,00</c:v>
                </c:pt>
              </c:strCache>
            </c:strRef>
          </c:cat>
          <c:val>
            <c:numRef>
              <c:f>'Chart Data'!$B$2:$B$6</c:f>
              <c:numCache>
                <c:formatCode>0.00</c:formatCode>
                <c:ptCount val="5"/>
                <c:pt idx="0">
                  <c:v>1</c:v>
                </c:pt>
                <c:pt idx="1">
                  <c:v>0.5882937222</c:v>
                </c:pt>
                <c:pt idx="2">
                  <c:v>0.2818121018</c:v>
                </c:pt>
                <c:pt idx="3">
                  <c:v>0.0840598038</c:v>
                </c:pt>
                <c:pt idx="4">
                  <c:v>0.0008397592</c:v>
                </c:pt>
              </c:numCache>
            </c:numRef>
          </c:val>
          <c:smooth val="0"/>
        </c:ser>
        <c:ser>
          <c:idx val="1"/>
          <c:order val="1"/>
          <c:tx>
            <c:v>Giữ box</c:v>
          </c:tx>
          <c:spPr>
            <a:ln xmlns:a="http://schemas.openxmlformats.org/drawingml/2006/main" w="28575">
              <a:solidFill>
                <a:srgbClr val="D56B33"/>
              </a:solidFill>
            </a:ln>
          </c:spPr>
          <c:marker>
            <c:symbol val="circle"/>
            <c:size val="7"/>
          </c:marker>
          <c:cat>
            <c:strRef>
              <c:f>'Chart Data'!$C$2:$C$6</c:f>
              <c:strCache>
                <c:ptCount val="5"/>
                <c:pt idx="0">
                  <c:v>0</c:v>
                </c:pt>
                <c:pt idx="1">
                  <c:v>0,25</c:v>
                </c:pt>
                <c:pt idx="2">
                  <c:v>0,50</c:v>
                </c:pt>
                <c:pt idx="3">
                  <c:v>0,75</c:v>
                </c:pt>
                <c:pt idx="4">
                  <c:v>1,00</c:v>
                </c:pt>
              </c:strCache>
            </c:strRef>
          </c:cat>
          <c:val>
            <c:numRef>
              <c:f>'Chart Data'!$D$2:$D$6</c:f>
              <c:numCache>
                <c:formatCode>0.00</c:formatCode>
                <c:ptCount val="5"/>
                <c:pt idx="0">
                  <c:v>1</c:v>
                </c:pt>
                <c:pt idx="1">
                  <c:v>1</c:v>
                </c:pt>
                <c:pt idx="2">
                  <c:v>1</c:v>
                </c:pt>
                <c:pt idx="3">
                  <c:v>1</c:v>
                </c:pt>
                <c:pt idx="4">
                  <c:v>1</c:v>
                </c:pt>
              </c:numCache>
            </c:numRef>
          </c:val>
          <c:smooth val="0"/>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Severity</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Bitstream Charter"/>
                <a:ea typeface="Bitstream Charter"/>
                <a:cs typeface="Bitstream Charter"/>
              </a:defRPr>
            </a:pPr>
          </a:p>
        </c:txPr>
        <c:crossAx val="48672768"/>
      </c:catAx>
      <c:valAx>
        <c:axId val="48672768"/>
        <c:scaling>
          <c:orientation val="minMax"/>
          <c:max val="1"/>
          <c:min val="0"/>
        </c:scaling>
        <c:delete val="0"/>
        <c:axPos val="l"/>
        <c:majorGridlines>
          <c:spPr>
            <a:ln xmlns:a="http://schemas.openxmlformats.org/drawingml/2006/main" w="9525">
              <a:solidFill>
                <a:srgbClr val="DFE6EB"/>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Bitstream Charter"/>
                <a:ea typeface="Bitstream Charter"/>
                <a:cs typeface="Bitstream Charter"/>
              </a:defRPr>
            </a:pPr>
          </a:p>
        </c:txPr>
        <c:crossAx val="48650112"/>
        <c:crossBetween val="between"/>
        <c:majorUnit val="0.25"/>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Bitstream Charter"/>
              <a:ea typeface="Bitstream Charter"/>
              <a:cs typeface="Bitstream Charter"/>
            </a:defRPr>
          </a:pPr>
        </a:p>
      </c:txPr>
    </c:legend>
    <c:plotVisOnly val="1"/>
  </c:chart>
  <c:spPr>
    <a:solidFill xmlns:a="http://schemas.openxmlformats.org/drawingml/2006/main">
      <a:srgbClr val="FAFBFC"/>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Health proxy</c:v>
          </c:tx>
          <c:spPr>
            <a:solidFill xmlns:a="http://schemas.openxmlformats.org/drawingml/2006/main">
              <a:srgbClr val="176B9B"/>
            </a:solidFill>
          </c:spPr>
          <c:cat>
            <c:strRef>
              <c:f>'Chart Data'!$A$2:$A$6</c:f>
              <c:strCache>
                <c:ptCount val="5"/>
                <c:pt idx="0">
                  <c:v>Blur</c:v>
                </c:pt>
                <c:pt idx="1">
                  <c:v>Thiếu sáng</c:v>
                </c:pt>
                <c:pt idx="2">
                  <c:v>Noise</c:v>
                </c:pt>
                <c:pt idx="3">
                  <c:v>Cháy sáng</c:v>
                </c:pt>
                <c:pt idx="4">
                  <c:v>Blur + noise</c:v>
                </c:pt>
              </c:strCache>
            </c:strRef>
          </c:cat>
          <c:val>
            <c:numRef>
              <c:f>'Chart Data'!$B$2:$B$6</c:f>
              <c:numCache>
                <c:formatCode>0.00</c:formatCode>
                <c:ptCount val="5"/>
                <c:pt idx="0">
                  <c:v>0.0488864758</c:v>
                </c:pt>
                <c:pt idx="1">
                  <c:v>0.0008397592</c:v>
                </c:pt>
                <c:pt idx="2">
                  <c:v>0.9967599848</c:v>
                </c:pt>
                <c:pt idx="3">
                  <c:v>0.3866347606</c:v>
                </c:pt>
                <c:pt idx="4">
                  <c:v>1</c:v>
                </c:pt>
              </c:numCache>
            </c:numRef>
          </c:val>
        </c:ser>
        <c:ser>
          <c:idx val="1"/>
          <c:order val="1"/>
          <c:tx>
            <c:v>Giữ box tham chiếu</c:v>
          </c:tx>
          <c:spPr>
            <a:solidFill xmlns:a="http://schemas.openxmlformats.org/drawingml/2006/main">
              <a:srgbClr val="D56B33"/>
            </a:solidFill>
          </c:spPr>
          <c:cat>
            <c:strRef>
              <c:f>'Chart Data'!$C$2:$C$6</c:f>
              <c:strCache>
                <c:ptCount val="5"/>
                <c:pt idx="0">
                  <c:v>Blur</c:v>
                </c:pt>
                <c:pt idx="1">
                  <c:v>Thiếu sáng</c:v>
                </c:pt>
                <c:pt idx="2">
                  <c:v>Noise</c:v>
                </c:pt>
                <c:pt idx="3">
                  <c:v>Cháy sáng</c:v>
                </c:pt>
                <c:pt idx="4">
                  <c:v>Blur + noise</c:v>
                </c:pt>
              </c:strCache>
            </c:strRef>
          </c:cat>
          <c:val>
            <c:numRef>
              <c:f>'Chart Data'!$D$2:$D$6</c:f>
              <c:numCache>
                <c:formatCode>0.00</c:formatCode>
                <c:ptCount val="5"/>
                <c:pt idx="0">
                  <c:v>0.5</c:v>
                </c:pt>
                <c:pt idx="1">
                  <c:v>1</c:v>
                </c:pt>
                <c:pt idx="2">
                  <c:v>0.75</c:v>
                </c:pt>
                <c:pt idx="3">
                  <c:v>1</c:v>
                </c:pt>
                <c:pt idx="4">
                  <c:v>0</c:v>
                </c:pt>
              </c:numCache>
            </c:numRef>
          </c:val>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Bitstream Charter"/>
                <a:ea typeface="Bitstream Charter"/>
                <a:cs typeface="Bitstream Charter"/>
              </a:defRPr>
            </a:pPr>
          </a:p>
        </c:txPr>
        <c:crossAx val="48672768"/>
      </c:catAx>
      <c:valAx>
        <c:axId val="48672768"/>
        <c:scaling>
          <c:orientation val="minMax"/>
          <c:max val="1"/>
          <c:min val="0"/>
        </c:scaling>
        <c:delete val="0"/>
        <c:axPos val="l"/>
        <c:majorGridlines>
          <c:spPr>
            <a:ln xmlns:a="http://schemas.openxmlformats.org/drawingml/2006/main" w="9525">
              <a:solidFill>
                <a:srgbClr val="DFE6EB"/>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Bitstream Charter"/>
                <a:ea typeface="Bitstream Charter"/>
                <a:cs typeface="Bitstream Charter"/>
              </a:defRPr>
            </a:pPr>
          </a:p>
        </c:txPr>
        <c:crossAx val="48650112"/>
        <c:crossBetween val="between"/>
        <c:majorUnit val="0.25"/>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Bitstream Charter"/>
              <a:ea typeface="Bitstream Charter"/>
              <a:cs typeface="Bitstream Charter"/>
            </a:defRPr>
          </a:pPr>
        </a:p>
      </c:txPr>
    </c:legend>
    <c:plotVisOnly val="1"/>
  </c:chart>
  <c:spPr>
    <a:solidFill xmlns:a="http://schemas.openxmlformats.org/drawingml/2006/main">
      <a:srgbClr val="FAFBFC"/>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4DB00E-299C-4DCB-AA24-9C60D4CE5FD9}"/>
              </a:ext>
            </a:extLst>
          </p:cNvPr>
          <p:cNvSpPr>
            <a:spLocks xmlns:a="http://schemas.openxmlformats.org/drawingml/2006/main" noGrp="1"/>
          </p:cNvSpPr>
          <p:nvPr/>
        </p:nvSpPr>
        <p:spPr>
          <a:xfrm xmlns:a="http://schemas.openxmlformats.org/drawingml/2006/main">
            <a:off x="514350" y="323850"/>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C"/>
                </a:solidFill>
                <a:latin typeface="Bitstream Charter"/>
                <a:ea typeface="Bitstream Charter"/>
                <a:cs typeface="Bitstream Charter"/>
              </a:defRPr>
            </a:pPr>
            <a:r>
              <a:rPr sz="3300" b="1">
                <a:solidFill>
                  <a:srgbClr val="152B3C"/>
                </a:solidFill>
                <a:latin typeface="Bitstream Charter"/>
                <a:ea typeface="Bitstream Charter"/>
                <a:cs typeface="Bitstream Charter"/>
              </a:rPr>
              <a:t>Camera degradation health score</a:t>
            </a:r>
          </a:p>
        </p:txBody>
      </p:sp>
      <p:sp>
        <p:nvSpPr>
          <p:cNvPr id="2" name="">
            <a:extLst xmlns:a="http://schemas.openxmlformats.org/drawingml/2006/main">
              <a:ext uri="{FF2B5EF4-FFF2-40B4-BE49-F238E27FC236}">
                <a16:creationId xmlns:a16="http://schemas.microsoft.com/office/drawing/2014/main" id="{1DA1AEFA-B067-45BA-9614-9D767FE23F83}"/>
              </a:ext>
            </a:extLst>
          </p:cNvPr>
          <p:cNvSpPr>
            <a:spLocks xmlns:a="http://schemas.openxmlformats.org/drawingml/2006/main" noGrp="1"/>
          </p:cNvSpPr>
          <p:nvPr/>
        </p:nvSpPr>
        <p:spPr>
          <a:xfrm xmlns:a="http://schemas.openxmlformats.org/drawingml/2006/main">
            <a:off x="11334750" y="643890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7"/>
                </a:solidFill>
                <a:latin typeface="Bitstream Charter"/>
                <a:ea typeface="Bitstream Charter"/>
                <a:cs typeface="Bitstream Charter"/>
              </a:defRPr>
            </a:pPr>
            <a:r>
              <a:rPr sz="1350" b="0">
                <a:solidFill>
                  <a:srgbClr val="536877"/>
                </a:solidFill>
                <a:latin typeface="Bitstream Charter"/>
                <a:ea typeface="Bitstream Charter"/>
                <a:cs typeface="Bitstream Charter"/>
              </a:rPr>
              <a:t>01</a:t>
            </a:r>
          </a:p>
        </p:txBody>
      </p:sp>
      <p:sp>
        <p:nvSpPr>
          <p:cNvPr id="3" name="">
            <a:extLst xmlns:a="http://schemas.openxmlformats.org/drawingml/2006/main">
              <a:ext uri="{FF2B5EF4-FFF2-40B4-BE49-F238E27FC236}">
                <a16:creationId xmlns:a16="http://schemas.microsoft.com/office/drawing/2014/main" id="{AB0D5D1A-524F-4730-AD1B-265146212069}"/>
              </a:ext>
            </a:extLst>
          </p:cNvPr>
          <p:cNvSpPr>
            <a:spLocks xmlns:a="http://schemas.openxmlformats.org/drawingml/2006/main" noGrp="1"/>
          </p:cNvSpPr>
          <p:nvPr/>
        </p:nvSpPr>
        <p:spPr>
          <a:xfrm xmlns:a="http://schemas.openxmlformats.org/drawingml/2006/main">
            <a:off x="533400" y="14668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6B9B"/>
                </a:solidFill>
                <a:latin typeface="Bitstream Charter"/>
                <a:ea typeface="Bitstream Charter"/>
                <a:cs typeface="Bitstream Charter"/>
              </a:defRPr>
            </a:pPr>
            <a:r>
              <a:rPr sz="2550" b="1">
                <a:solidFill>
                  <a:srgbClr val="176B9B"/>
                </a:solidFill>
                <a:latin typeface="Bitstream Charter"/>
                <a:ea typeface="Bitstream Charter"/>
                <a:cs typeface="Bitstream Charter"/>
              </a:rPr>
              <a:t>Báo cáo thực hành T1</a:t>
            </a:r>
          </a:p>
        </p:txBody>
      </p:sp>
      <p:sp>
        <p:nvSpPr>
          <p:cNvPr id="4" name="">
            <a:extLst xmlns:a="http://schemas.openxmlformats.org/drawingml/2006/main">
              <a:ext uri="{FF2B5EF4-FFF2-40B4-BE49-F238E27FC236}">
                <a16:creationId xmlns:a16="http://schemas.microsoft.com/office/drawing/2014/main" id="{A171B3B6-ACB6-4EF8-90E3-D3936A21BE14}"/>
              </a:ext>
            </a:extLst>
          </p:cNvPr>
          <p:cNvSpPr>
            <a:spLocks xmlns:a="http://schemas.openxmlformats.org/drawingml/2006/main" noGrp="1"/>
          </p:cNvSpPr>
          <p:nvPr/>
        </p:nvSpPr>
        <p:spPr>
          <a:xfrm xmlns:a="http://schemas.openxmlformats.org/drawingml/2006/main">
            <a:off x="533400" y="2266950"/>
            <a:ext cx="609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B3C"/>
                </a:solidFill>
                <a:latin typeface="Bitstream Charter"/>
                <a:ea typeface="Bitstream Charter"/>
                <a:cs typeface="Bitstream Charter"/>
              </a:defRPr>
            </a:pPr>
            <a:r>
              <a:rPr sz="2400" b="0">
                <a:solidFill>
                  <a:srgbClr val="152B3C"/>
                </a:solidFill>
                <a:latin typeface="Bitstream Charter"/>
                <a:ea typeface="Bitstream Charter"/>
                <a:cs typeface="Bitstream Charter"/>
              </a:rPr>
              <a:t>Giám sát chất lượng camera RGB</a:t>
            </a:r>
          </a:p>
          <a:p xmlns:a="http://schemas.openxmlformats.org/drawingml/2006/main">
            <a:pPr>
              <a:defRPr sz="2400" b="0">
                <a:solidFill>
                  <a:srgbClr val="152B3C"/>
                </a:solidFill>
                <a:latin typeface="Bitstream Charter"/>
                <a:ea typeface="Bitstream Charter"/>
                <a:cs typeface="Bitstream Charter"/>
              </a:defRPr>
            </a:pPr>
            <a:r>
              <a:rPr sz="2400" b="0">
                <a:solidFill>
                  <a:srgbClr val="152B3C"/>
                </a:solidFill>
                <a:latin typeface="Bitstream Charter"/>
                <a:ea typeface="Bitstream Charter"/>
                <a:cs typeface="Bitstream Charter"/>
              </a:rPr>
              <a:t>trong bối cảnh xe ADAS</a:t>
            </a:r>
          </a:p>
        </p:txBody>
      </p:sp>
      <p:sp>
        <p:nvSpPr>
          <p:cNvPr id="5" name="">
            <a:extLst xmlns:a="http://schemas.openxmlformats.org/drawingml/2006/main">
              <a:ext uri="{FF2B5EF4-FFF2-40B4-BE49-F238E27FC236}">
                <a16:creationId xmlns:a16="http://schemas.microsoft.com/office/drawing/2014/main" id="{FA93B662-7C73-4892-9063-E8241A524B63}"/>
              </a:ext>
            </a:extLst>
          </p:cNvPr>
          <p:cNvSpPr>
            <a:spLocks xmlns:a="http://schemas.openxmlformats.org/drawingml/2006/main" noGrp="1"/>
          </p:cNvSpPr>
          <p:nvPr/>
        </p:nvSpPr>
        <p:spPr>
          <a:xfrm xmlns:a="http://schemas.openxmlformats.org/drawingml/2006/main">
            <a:off x="533400" y="3762375"/>
            <a:ext cx="561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36877"/>
                </a:solidFill>
                <a:latin typeface="Bitstream Charter"/>
                <a:ea typeface="Bitstream Charter"/>
                <a:cs typeface="Bitstream Charter"/>
              </a:defRPr>
            </a:pPr>
            <a:r>
              <a:rPr sz="2250" b="0">
                <a:solidFill>
                  <a:srgbClr val="536877"/>
                </a:solidFill>
                <a:latin typeface="Bitstream Charter"/>
                <a:ea typeface="Bitstream Charter"/>
                <a:cs typeface="Bitstream Charter"/>
              </a:rPr>
              <a:t>1 ảnh đường phố</a:t>
            </a:r>
          </a:p>
          <a:p xmlns:a="http://schemas.openxmlformats.org/drawingml/2006/main">
            <a:pPr>
              <a:defRPr sz="2250" b="0">
                <a:solidFill>
                  <a:srgbClr val="536877"/>
                </a:solidFill>
                <a:latin typeface="Bitstream Charter"/>
                <a:ea typeface="Bitstream Charter"/>
                <a:cs typeface="Bitstream Charter"/>
              </a:defRPr>
            </a:pPr>
            <a:r>
              <a:rPr sz="2250" b="0">
                <a:solidFill>
                  <a:srgbClr val="536877"/>
                </a:solidFill>
                <a:latin typeface="Bitstream Charter"/>
                <a:ea typeface="Bitstream Charter"/>
                <a:cs typeface="Bitstream Charter"/>
              </a:rPr>
              <a:t>5 loại degradation</a:t>
            </a:r>
          </a:p>
          <a:p xmlns:a="http://schemas.openxmlformats.org/drawingml/2006/main">
            <a:pPr>
              <a:defRPr sz="2250" b="0">
                <a:solidFill>
                  <a:srgbClr val="536877"/>
                </a:solidFill>
                <a:latin typeface="Bitstream Charter"/>
                <a:ea typeface="Bitstream Charter"/>
                <a:cs typeface="Bitstream Charter"/>
              </a:defRPr>
            </a:pPr>
            <a:r>
              <a:rPr sz="2250" b="0">
                <a:solidFill>
                  <a:srgbClr val="536877"/>
                </a:solidFill>
                <a:latin typeface="Bitstream Charter"/>
                <a:ea typeface="Bitstream Charter"/>
                <a:cs typeface="Bitstream Charter"/>
              </a:rPr>
              <a:t>21 mẫu benchmark</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518c9aa52864e12"/>
          <a:stretch xmlns:a="http://schemas.openxmlformats.org/drawingml/2006/main"/>
        </p:blipFill>
        <p:spPr>
          <a:xfrm xmlns:a="http://schemas.openxmlformats.org/drawingml/2006/main">
            <a:off x="7274719" y="1285875"/>
            <a:ext cx="3643313" cy="4857750"/>
          </a:xfrm>
          <a:prstGeom xmlns:a="http://schemas.openxmlformats.org/drawingml/2006/main" prst="rect">
            <a:avLst/>
          </a:prstGeom>
        </p:spPr>
      </p:pic>
    </p:spTree>
    <p:extLst>
      <p:ext uri="{BB962C8B-B14F-4D97-AF65-F5344CB8AC3E}">
        <p14:creationId xmlns:p14="http://schemas.microsoft.com/office/powerpoint/2010/main" val="1098532963"/>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7AFF0B9-700D-4A96-863D-F2C24358C9D4}"/>
              </a:ext>
            </a:extLst>
          </p:cNvPr>
          <p:cNvSpPr>
            <a:spLocks xmlns:a="http://schemas.openxmlformats.org/drawingml/2006/main" noGrp="1"/>
          </p:cNvSpPr>
          <p:nvPr/>
        </p:nvSpPr>
        <p:spPr>
          <a:xfrm xmlns:a="http://schemas.openxmlformats.org/drawingml/2006/main">
            <a:off x="514350" y="323850"/>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C"/>
                </a:solidFill>
                <a:latin typeface="Bitstream Charter"/>
                <a:ea typeface="Bitstream Charter"/>
                <a:cs typeface="Bitstream Charter"/>
              </a:defRPr>
            </a:pPr>
            <a:r>
              <a:rPr sz="3300" b="1">
                <a:solidFill>
                  <a:srgbClr val="152B3C"/>
                </a:solidFill>
                <a:latin typeface="Bitstream Charter"/>
                <a:ea typeface="Bitstream Charter"/>
                <a:cs typeface="Bitstream Charter"/>
              </a:rPr>
              <a:t>Phần tái hiện từ paper</a:t>
            </a:r>
          </a:p>
        </p:txBody>
      </p:sp>
      <p:sp>
        <p:nvSpPr>
          <p:cNvPr id="2" name="">
            <a:extLst xmlns:a="http://schemas.openxmlformats.org/drawingml/2006/main">
              <a:ext uri="{FF2B5EF4-FFF2-40B4-BE49-F238E27FC236}">
                <a16:creationId xmlns:a16="http://schemas.microsoft.com/office/drawing/2014/main" id="{F32472AC-00BF-4ABD-A4DC-07BC8834225E}"/>
              </a:ext>
            </a:extLst>
          </p:cNvPr>
          <p:cNvSpPr>
            <a:spLocks xmlns:a="http://schemas.openxmlformats.org/drawingml/2006/main" noGrp="1"/>
          </p:cNvSpPr>
          <p:nvPr/>
        </p:nvSpPr>
        <p:spPr>
          <a:xfrm xmlns:a="http://schemas.openxmlformats.org/drawingml/2006/main">
            <a:off x="11334750" y="643890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7"/>
                </a:solidFill>
                <a:latin typeface="Bitstream Charter"/>
                <a:ea typeface="Bitstream Charter"/>
                <a:cs typeface="Bitstream Charter"/>
              </a:defRPr>
            </a:pPr>
            <a:r>
              <a:rPr sz="1350" b="0">
                <a:solidFill>
                  <a:srgbClr val="536877"/>
                </a:solidFill>
                <a:latin typeface="Bitstream Charter"/>
                <a:ea typeface="Bitstream Charter"/>
                <a:cs typeface="Bitstream Charter"/>
              </a:rPr>
              <a:t>02</a:t>
            </a:r>
          </a:p>
        </p:txBody>
      </p:sp>
      <p:sp>
        <p:nvSpPr>
          <p:cNvPr id="3" name="">
            <a:extLst xmlns:a="http://schemas.openxmlformats.org/drawingml/2006/main">
              <a:ext uri="{FF2B5EF4-FFF2-40B4-BE49-F238E27FC236}">
                <a16:creationId xmlns:a16="http://schemas.microsoft.com/office/drawing/2014/main" id="{84CB6774-8346-48A4-8618-B066F1A303C1}"/>
              </a:ext>
            </a:extLst>
          </p:cNvPr>
          <p:cNvSpPr>
            <a:spLocks xmlns:a="http://schemas.openxmlformats.org/drawingml/2006/main" noGrp="1"/>
          </p:cNvSpPr>
          <p:nvPr/>
        </p:nvSpPr>
        <p:spPr>
          <a:xfrm xmlns:a="http://schemas.openxmlformats.org/drawingml/2006/main">
            <a:off x="533400" y="1047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877"/>
                </a:solidFill>
                <a:latin typeface="Bitstream Charter"/>
                <a:ea typeface="Bitstream Charter"/>
                <a:cs typeface="Bitstream Charter"/>
              </a:defRPr>
            </a:pPr>
            <a:r>
              <a:rPr sz="1575" b="0">
                <a:solidFill>
                  <a:srgbClr val="536877"/>
                </a:solidFill>
                <a:latin typeface="Bitstream Charter"/>
                <a:ea typeface="Bitstream Charter"/>
                <a:cs typeface="Bitstream Charter"/>
              </a:rPr>
              <a:t>Aher (2026), arXiv:2605.05439v1</a:t>
            </a:r>
          </a:p>
        </p:txBody>
      </p:sp>
      <p:sp>
        <p:nvSpPr>
          <p:cNvPr id="4" name="">
            <a:extLst xmlns:a="http://schemas.openxmlformats.org/drawingml/2006/main">
              <a:ext uri="{FF2B5EF4-FFF2-40B4-BE49-F238E27FC236}">
                <a16:creationId xmlns:a16="http://schemas.microsoft.com/office/drawing/2014/main" id="{271ABE23-0D57-404E-BDF4-E28B49B1027D}"/>
              </a:ext>
            </a:extLst>
          </p:cNvPr>
          <p:cNvSpPr>
            <a:spLocks xmlns:a="http://schemas.openxmlformats.org/drawingml/2006/main" noGrp="1"/>
          </p:cNvSpPr>
          <p:nvPr/>
        </p:nvSpPr>
        <p:spPr>
          <a:xfrm xmlns:a="http://schemas.openxmlformats.org/drawingml/2006/main">
            <a:off x="533400" y="13525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6B9B"/>
                </a:solidFill>
                <a:latin typeface="Bitstream Charter"/>
                <a:ea typeface="Bitstream Charter"/>
                <a:cs typeface="Bitstream Charter"/>
              </a:defRPr>
            </a:pPr>
            <a:r>
              <a:rPr sz="2400" b="1">
                <a:solidFill>
                  <a:srgbClr val="176B9B"/>
                </a:solidFill>
                <a:latin typeface="Bitstream Charter"/>
                <a:ea typeface="Bitstream Charter"/>
                <a:cs typeface="Bitstream Charter"/>
              </a:rPr>
              <a:t>Công thức GSHI target</a:t>
            </a:r>
          </a:p>
        </p:txBody>
      </p:sp>
      <p:sp>
        <p:nvSpPr>
          <p:cNvPr id="5" name="">
            <a:extLst xmlns:a="http://schemas.openxmlformats.org/drawingml/2006/main">
              <a:ext uri="{FF2B5EF4-FFF2-40B4-BE49-F238E27FC236}">
                <a16:creationId xmlns:a16="http://schemas.microsoft.com/office/drawing/2014/main" id="{DA844E62-78C0-4D36-A683-C81D8F9CDD61}"/>
              </a:ext>
            </a:extLst>
          </p:cNvPr>
          <p:cNvSpPr>
            <a:spLocks xmlns:a="http://schemas.openxmlformats.org/drawingml/2006/main" noGrp="1"/>
          </p:cNvSpPr>
          <p:nvPr/>
        </p:nvSpPr>
        <p:spPr>
          <a:xfrm xmlns:a="http://schemas.openxmlformats.org/drawingml/2006/main">
            <a:off x="533400" y="20288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2B3C"/>
                </a:solidFill>
                <a:latin typeface="Bitstream Charter"/>
                <a:ea typeface="Bitstream Charter"/>
                <a:cs typeface="Bitstream Charter"/>
              </a:defRPr>
            </a:pPr>
            <a:r>
              <a:rPr sz="3000" b="1">
                <a:solidFill>
                  <a:srgbClr val="152B3C"/>
                </a:solidFill>
                <a:latin typeface="Bitstream Charter"/>
                <a:ea typeface="Bitstream Charter"/>
                <a:cs typeface="Bitstream Charter"/>
              </a:rPr>
              <a:t>H* = ∏ᵢ (1 − sᵢ)^(wᵢ αg(i))</a:t>
            </a:r>
          </a:p>
        </p:txBody>
      </p:sp>
      <p:sp>
        <p:nvSpPr>
          <p:cNvPr id="6" name="">
            <a:extLst xmlns:a="http://schemas.openxmlformats.org/drawingml/2006/main">
              <a:ext uri="{FF2B5EF4-FFF2-40B4-BE49-F238E27FC236}">
                <a16:creationId xmlns:a16="http://schemas.microsoft.com/office/drawing/2014/main" id="{E8B5C3B6-C322-48AD-952A-8A91427E67CF}"/>
              </a:ext>
            </a:extLst>
          </p:cNvPr>
          <p:cNvSpPr>
            <a:spLocks xmlns:a="http://schemas.openxmlformats.org/drawingml/2006/main" noGrp="1"/>
          </p:cNvSpPr>
          <p:nvPr/>
        </p:nvSpPr>
        <p:spPr>
          <a:xfrm xmlns:a="http://schemas.openxmlformats.org/drawingml/2006/main">
            <a:off x="533400" y="28765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B3C"/>
                </a:solidFill>
                <a:latin typeface="Bitstream Charter"/>
                <a:ea typeface="Bitstream Charter"/>
                <a:cs typeface="Bitstream Charter"/>
              </a:defRPr>
            </a:pPr>
            <a:r>
              <a:rPr sz="2100" b="0">
                <a:solidFill>
                  <a:srgbClr val="152B3C"/>
                </a:solidFill>
                <a:latin typeface="Bitstream Charter"/>
                <a:ea typeface="Bitstream Charter"/>
                <a:cs typeface="Bitstream Charter"/>
              </a:rPr>
              <a:t>Motion blur: 1,54      Low light: 1,30</a:t>
            </a:r>
          </a:p>
          <a:p xmlns:a="http://schemas.openxmlformats.org/drawingml/2006/main">
            <a:pPr>
              <a:defRPr sz="2100" b="0">
                <a:solidFill>
                  <a:srgbClr val="152B3C"/>
                </a:solidFill>
                <a:latin typeface="Bitstream Charter"/>
                <a:ea typeface="Bitstream Charter"/>
                <a:cs typeface="Bitstream Charter"/>
              </a:defRPr>
            </a:pPr>
            <a:r>
              <a:rPr sz="2100" b="0">
                <a:solidFill>
                  <a:srgbClr val="152B3C"/>
                </a:solidFill>
                <a:latin typeface="Bitstream Charter"/>
                <a:ea typeface="Bitstream Charter"/>
                <a:cs typeface="Bitstream Charter"/>
              </a:rPr>
              <a:t>Sensor noise: 1,05      Exposure shift: 0,95</a:t>
            </a:r>
          </a:p>
        </p:txBody>
      </p:sp>
      <p:sp>
        <p:nvSpPr>
          <p:cNvPr id="7" name="">
            <a:extLst xmlns:a="http://schemas.openxmlformats.org/drawingml/2006/main">
              <a:ext uri="{FF2B5EF4-FFF2-40B4-BE49-F238E27FC236}">
                <a16:creationId xmlns:a16="http://schemas.microsoft.com/office/drawing/2014/main" id="{05F22376-C608-4F87-A8B9-FBB42DD1BAB8}"/>
              </a:ext>
            </a:extLst>
          </p:cNvPr>
          <p:cNvSpPr>
            <a:spLocks xmlns:a="http://schemas.openxmlformats.org/drawingml/2006/main" noGrp="1"/>
          </p:cNvSpPr>
          <p:nvPr/>
        </p:nvSpPr>
        <p:spPr>
          <a:xfrm xmlns:a="http://schemas.openxmlformats.org/drawingml/2006/main">
            <a:off x="533400" y="42386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6B9B"/>
                </a:solidFill>
                <a:latin typeface="Bitstream Charter"/>
                <a:ea typeface="Bitstream Charter"/>
                <a:cs typeface="Bitstream Charter"/>
              </a:defRPr>
            </a:pPr>
            <a:r>
              <a:rPr sz="2250" b="1">
                <a:solidFill>
                  <a:srgbClr val="176B9B"/>
                </a:solidFill>
                <a:latin typeface="Bitstream Charter"/>
                <a:ea typeface="Bitstream Charter"/>
                <a:cs typeface="Bitstream Charter"/>
              </a:rPr>
              <a:t>Nhóm tái hiện</a:t>
            </a:r>
          </a:p>
        </p:txBody>
      </p:sp>
      <p:sp>
        <p:nvSpPr>
          <p:cNvPr id="8" name="">
            <a:extLst xmlns:a="http://schemas.openxmlformats.org/drawingml/2006/main">
              <a:ext uri="{FF2B5EF4-FFF2-40B4-BE49-F238E27FC236}">
                <a16:creationId xmlns:a16="http://schemas.microsoft.com/office/drawing/2014/main" id="{AEB5523E-0E30-4CB9-905A-A05427CB2775}"/>
              </a:ext>
            </a:extLst>
          </p:cNvPr>
          <p:cNvSpPr>
            <a:spLocks xmlns:a="http://schemas.openxmlformats.org/drawingml/2006/main" noGrp="1"/>
          </p:cNvSpPr>
          <p:nvPr/>
        </p:nvSpPr>
        <p:spPr>
          <a:xfrm xmlns:a="http://schemas.openxmlformats.org/drawingml/2006/main">
            <a:off x="533400" y="479107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2B3C"/>
                </a:solidFill>
                <a:latin typeface="Bitstream Charter"/>
                <a:ea typeface="Bitstream Charter"/>
                <a:cs typeface="Bitstream Charter"/>
              </a:defRPr>
            </a:pPr>
            <a:r>
              <a:rPr sz="1950" b="0">
                <a:solidFill>
                  <a:srgbClr val="152B3C"/>
                </a:solidFill>
                <a:latin typeface="Bitstream Charter"/>
                <a:ea typeface="Bitstream Charter"/>
                <a:cs typeface="Bitstream Charter"/>
              </a:rPr>
              <a:t>Công thức và trọng số GSHI</a:t>
            </a:r>
          </a:p>
          <a:p xmlns:a="http://schemas.openxmlformats.org/drawingml/2006/main">
            <a:pPr>
              <a:defRPr sz="1950" b="0">
                <a:solidFill>
                  <a:srgbClr val="152B3C"/>
                </a:solidFill>
                <a:latin typeface="Bitstream Charter"/>
                <a:ea typeface="Bitstream Charter"/>
                <a:cs typeface="Bitstream Charter"/>
              </a:defRPr>
            </a:pPr>
            <a:r>
              <a:rPr sz="1950" b="0">
                <a:solidFill>
                  <a:srgbClr val="152B3C"/>
                </a:solidFill>
                <a:latin typeface="Bitstream Charter"/>
                <a:ea typeface="Bitstream Charter"/>
                <a:cs typeface="Bitstream Charter"/>
              </a:rPr>
              <a:t>Severity sweep giản lược</a:t>
            </a:r>
          </a:p>
        </p:txBody>
      </p:sp>
      <p:sp>
        <p:nvSpPr>
          <p:cNvPr id="9" name="">
            <a:extLst xmlns:a="http://schemas.openxmlformats.org/drawingml/2006/main">
              <a:ext uri="{FF2B5EF4-FFF2-40B4-BE49-F238E27FC236}">
                <a16:creationId xmlns:a16="http://schemas.microsoft.com/office/drawing/2014/main" id="{7F38DDB8-4AAC-42A3-9EBB-4DEE68F66713}"/>
              </a:ext>
            </a:extLst>
          </p:cNvPr>
          <p:cNvSpPr>
            <a:spLocks xmlns:a="http://schemas.openxmlformats.org/drawingml/2006/main" noGrp="1"/>
          </p:cNvSpPr>
          <p:nvPr/>
        </p:nvSpPr>
        <p:spPr>
          <a:xfrm xmlns:a="http://schemas.openxmlformats.org/drawingml/2006/main">
            <a:off x="6381750" y="42386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536877"/>
                </a:solidFill>
                <a:latin typeface="Bitstream Charter"/>
                <a:ea typeface="Bitstream Charter"/>
                <a:cs typeface="Bitstream Charter"/>
              </a:defRPr>
            </a:pPr>
            <a:r>
              <a:rPr sz="2250" b="1">
                <a:solidFill>
                  <a:srgbClr val="536877"/>
                </a:solidFill>
                <a:latin typeface="Bitstream Charter"/>
                <a:ea typeface="Bitstream Charter"/>
                <a:cs typeface="Bitstream Charter"/>
              </a:rPr>
              <a:t>Phạm vi còn lại</a:t>
            </a:r>
          </a:p>
        </p:txBody>
      </p:sp>
      <p:sp>
        <p:nvSpPr>
          <p:cNvPr id="10" name="">
            <a:extLst xmlns:a="http://schemas.openxmlformats.org/drawingml/2006/main">
              <a:ext uri="{FF2B5EF4-FFF2-40B4-BE49-F238E27FC236}">
                <a16:creationId xmlns:a16="http://schemas.microsoft.com/office/drawing/2014/main" id="{E6CCD409-CA56-43AC-95FD-E5AB42E2E20B}"/>
              </a:ext>
            </a:extLst>
          </p:cNvPr>
          <p:cNvSpPr>
            <a:spLocks xmlns:a="http://schemas.openxmlformats.org/drawingml/2006/main" noGrp="1"/>
          </p:cNvSpPr>
          <p:nvPr/>
        </p:nvSpPr>
        <p:spPr>
          <a:xfrm xmlns:a="http://schemas.openxmlformats.org/drawingml/2006/main">
            <a:off x="6381750" y="4791075"/>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2B3C"/>
                </a:solidFill>
                <a:latin typeface="Bitstream Charter"/>
                <a:ea typeface="Bitstream Charter"/>
                <a:cs typeface="Bitstream Charter"/>
              </a:defRPr>
            </a:pPr>
            <a:r>
              <a:rPr sz="1950" b="0">
                <a:solidFill>
                  <a:srgbClr val="152B3C"/>
                </a:solidFill>
                <a:latin typeface="Bitstream Charter"/>
                <a:ea typeface="Bitstream Charter"/>
                <a:cs typeface="Bitstream Charter"/>
              </a:rPr>
              <a:t>Chưa huấn luyện CNN monitor</a:t>
            </a:r>
          </a:p>
          <a:p xmlns:a="http://schemas.openxmlformats.org/drawingml/2006/main">
            <a:pPr>
              <a:defRPr sz="1950" b="0">
                <a:solidFill>
                  <a:srgbClr val="152B3C"/>
                </a:solidFill>
                <a:latin typeface="Bitstream Charter"/>
                <a:ea typeface="Bitstream Charter"/>
                <a:cs typeface="Bitstream Charter"/>
              </a:defRPr>
            </a:pPr>
            <a:r>
              <a:rPr sz="1950" b="0">
                <a:solidFill>
                  <a:srgbClr val="152B3C"/>
                </a:solidFill>
                <a:latin typeface="Bitstream Charter"/>
                <a:ea typeface="Bitstream Charter"/>
                <a:cs typeface="Bitstream Charter"/>
              </a:rPr>
              <a:t>Chưa đánh giá mAP hay early warning</a:t>
            </a:r>
          </a:p>
        </p:txBody>
      </p:sp>
    </p:spTree>
    <p:extLst>
      <p:ext uri="{BB962C8B-B14F-4D97-AF65-F5344CB8AC3E}">
        <p14:creationId xmlns:p14="http://schemas.microsoft.com/office/powerpoint/2010/main" val="1328901564"/>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99483A-1A60-44B7-BE53-15A8A0CCC386}"/>
              </a:ext>
            </a:extLst>
          </p:cNvPr>
          <p:cNvSpPr>
            <a:spLocks xmlns:a="http://schemas.openxmlformats.org/drawingml/2006/main" noGrp="1"/>
          </p:cNvSpPr>
          <p:nvPr/>
        </p:nvSpPr>
        <p:spPr>
          <a:xfrm xmlns:a="http://schemas.openxmlformats.org/drawingml/2006/main">
            <a:off x="514350" y="323850"/>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C"/>
                </a:solidFill>
                <a:latin typeface="Bitstream Charter"/>
                <a:ea typeface="Bitstream Charter"/>
                <a:cs typeface="Bitstream Charter"/>
              </a:defRPr>
            </a:pPr>
            <a:r>
              <a:rPr sz="3300" b="1">
                <a:solidFill>
                  <a:srgbClr val="152B3C"/>
                </a:solidFill>
                <a:latin typeface="Bitstream Charter"/>
                <a:ea typeface="Bitstream Charter"/>
                <a:cs typeface="Bitstream Charter"/>
              </a:rPr>
              <a:t>Thiết lập benchmark</a:t>
            </a:r>
          </a:p>
        </p:txBody>
      </p:sp>
      <p:sp>
        <p:nvSpPr>
          <p:cNvPr id="2" name="">
            <a:extLst xmlns:a="http://schemas.openxmlformats.org/drawingml/2006/main">
              <a:ext uri="{FF2B5EF4-FFF2-40B4-BE49-F238E27FC236}">
                <a16:creationId xmlns:a16="http://schemas.microsoft.com/office/drawing/2014/main" id="{12AF5B40-C896-42D5-AE7B-4EF0D2F3C98E}"/>
              </a:ext>
            </a:extLst>
          </p:cNvPr>
          <p:cNvSpPr>
            <a:spLocks xmlns:a="http://schemas.openxmlformats.org/drawingml/2006/main" noGrp="1"/>
          </p:cNvSpPr>
          <p:nvPr/>
        </p:nvSpPr>
        <p:spPr>
          <a:xfrm xmlns:a="http://schemas.openxmlformats.org/drawingml/2006/main">
            <a:off x="11334750" y="643890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7"/>
                </a:solidFill>
                <a:latin typeface="Bitstream Charter"/>
                <a:ea typeface="Bitstream Charter"/>
                <a:cs typeface="Bitstream Charter"/>
              </a:defRPr>
            </a:pPr>
            <a:r>
              <a:rPr sz="1350" b="0">
                <a:solidFill>
                  <a:srgbClr val="536877"/>
                </a:solidFill>
                <a:latin typeface="Bitstream Charter"/>
                <a:ea typeface="Bitstream Charter"/>
                <a:cs typeface="Bitstream Charter"/>
              </a:rPr>
              <a:t>03</a:t>
            </a:r>
          </a:p>
        </p:txBody>
      </p:sp>
      <p:sp>
        <p:nvSpPr>
          <p:cNvPr id="3" name="">
            <a:extLst xmlns:a="http://schemas.openxmlformats.org/drawingml/2006/main">
              <a:ext uri="{FF2B5EF4-FFF2-40B4-BE49-F238E27FC236}">
                <a16:creationId xmlns:a16="http://schemas.microsoft.com/office/drawing/2014/main" id="{5BAC7C3F-8F6A-42D0-B6F7-672C163B3F57}"/>
              </a:ext>
            </a:extLst>
          </p:cNvPr>
          <p:cNvSpPr>
            <a:spLocks xmlns:a="http://schemas.openxmlformats.org/drawingml/2006/main" noGrp="1"/>
          </p:cNvSpPr>
          <p:nvPr/>
        </p:nvSpPr>
        <p:spPr>
          <a:xfrm xmlns:a="http://schemas.openxmlformats.org/drawingml/2006/main">
            <a:off x="533400" y="136207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6B9B"/>
                </a:solidFill>
                <a:latin typeface="Bitstream Charter"/>
                <a:ea typeface="Bitstream Charter"/>
                <a:cs typeface="Bitstream Charter"/>
              </a:defRPr>
            </a:pPr>
            <a:r>
              <a:rPr sz="2250" b="1">
                <a:solidFill>
                  <a:srgbClr val="176B9B"/>
                </a:solidFill>
                <a:latin typeface="Bitstream Charter"/>
                <a:ea typeface="Bitstream Charter"/>
                <a:cs typeface="Bitstream Charter"/>
              </a:rPr>
              <a:t>Dữ liệu và detector</a:t>
            </a:r>
          </a:p>
        </p:txBody>
      </p:sp>
      <p:sp>
        <p:nvSpPr>
          <p:cNvPr id="4" name="">
            <a:extLst xmlns:a="http://schemas.openxmlformats.org/drawingml/2006/main">
              <a:ext uri="{FF2B5EF4-FFF2-40B4-BE49-F238E27FC236}">
                <a16:creationId xmlns:a16="http://schemas.microsoft.com/office/drawing/2014/main" id="{514B04A7-5BF2-4FAF-A553-DBC2A75A4A1E}"/>
              </a:ext>
            </a:extLst>
          </p:cNvPr>
          <p:cNvSpPr>
            <a:spLocks xmlns:a="http://schemas.openxmlformats.org/drawingml/2006/main" noGrp="1"/>
          </p:cNvSpPr>
          <p:nvPr/>
        </p:nvSpPr>
        <p:spPr>
          <a:xfrm xmlns:a="http://schemas.openxmlformats.org/drawingml/2006/main">
            <a:off x="533400" y="1971675"/>
            <a:ext cx="5334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2B3C"/>
                </a:solidFill>
                <a:latin typeface="Bitstream Charter"/>
                <a:ea typeface="Bitstream Charter"/>
                <a:cs typeface="Bitstream Charter"/>
              </a:defRPr>
            </a:pPr>
            <a:r>
              <a:rPr sz="1950" b="0">
                <a:solidFill>
                  <a:srgbClr val="152B3C"/>
                </a:solidFill>
                <a:latin typeface="Bitstream Charter"/>
                <a:ea typeface="Bitstream Charter"/>
                <a:cs typeface="Bitstream Charter"/>
              </a:rPr>
              <a:t>Ảnh bus.jpg, cạnh dài 640 px</a:t>
            </a:r>
          </a:p>
          <a:p xmlns:a="http://schemas.openxmlformats.org/drawingml/2006/main">
            <a:pPr>
              <a:defRPr sz="1950" b="0">
                <a:solidFill>
                  <a:srgbClr val="152B3C"/>
                </a:solidFill>
                <a:latin typeface="Bitstream Charter"/>
                <a:ea typeface="Bitstream Charter"/>
                <a:cs typeface="Bitstream Charter"/>
              </a:defRPr>
            </a:pPr>
            <a:r>
              <a:rPr sz="1950" b="0">
                <a:solidFill>
                  <a:srgbClr val="152B3C"/>
                </a:solidFill>
                <a:latin typeface="Bitstream Charter"/>
                <a:ea typeface="Bitstream Charter"/>
                <a:cs typeface="Bitstream Charter"/>
              </a:rPr>
              <a:t>YOLOv8n pretrained, giữ nguyên weights</a:t>
            </a:r>
          </a:p>
          <a:p xmlns:a="http://schemas.openxmlformats.org/drawingml/2006/main">
            <a:pPr>
              <a:defRPr sz="1950" b="0">
                <a:solidFill>
                  <a:srgbClr val="152B3C"/>
                </a:solidFill>
                <a:latin typeface="Bitstream Charter"/>
                <a:ea typeface="Bitstream Charter"/>
                <a:cs typeface="Bitstream Charter"/>
              </a:defRPr>
            </a:pPr>
            <a:r>
              <a:rPr sz="1950" b="0">
                <a:solidFill>
                  <a:srgbClr val="152B3C"/>
                </a:solidFill>
                <a:latin typeface="Bitstream Charter"/>
                <a:ea typeface="Bitstream Charter"/>
                <a:cs typeface="Bitstream Charter"/>
              </a:rPr>
              <a:t>Confidence ≥ 0,25, ghép box IoU ≥ 0,50</a:t>
            </a:r>
          </a:p>
        </p:txBody>
      </p:sp>
      <p:sp>
        <p:nvSpPr>
          <p:cNvPr id="5" name="">
            <a:extLst xmlns:a="http://schemas.openxmlformats.org/drawingml/2006/main">
              <a:ext uri="{FF2B5EF4-FFF2-40B4-BE49-F238E27FC236}">
                <a16:creationId xmlns:a16="http://schemas.microsoft.com/office/drawing/2014/main" id="{85A32A95-6DDB-4B6F-AF55-44A99C192059}"/>
              </a:ext>
            </a:extLst>
          </p:cNvPr>
          <p:cNvSpPr>
            <a:spLocks xmlns:a="http://schemas.openxmlformats.org/drawingml/2006/main" noGrp="1"/>
          </p:cNvSpPr>
          <p:nvPr/>
        </p:nvSpPr>
        <p:spPr>
          <a:xfrm xmlns:a="http://schemas.openxmlformats.org/drawingml/2006/main">
            <a:off x="533400" y="39624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6B9B"/>
                </a:solidFill>
                <a:latin typeface="Bitstream Charter"/>
                <a:ea typeface="Bitstream Charter"/>
                <a:cs typeface="Bitstream Charter"/>
              </a:defRPr>
            </a:pPr>
            <a:r>
              <a:rPr sz="2250" b="1">
                <a:solidFill>
                  <a:srgbClr val="176B9B"/>
                </a:solidFill>
                <a:latin typeface="Bitstream Charter"/>
                <a:ea typeface="Bitstream Charter"/>
                <a:cs typeface="Bitstream Charter"/>
              </a:rPr>
              <a:t>Degradation</a:t>
            </a:r>
          </a:p>
        </p:txBody>
      </p:sp>
      <p:sp>
        <p:nvSpPr>
          <p:cNvPr id="6" name="">
            <a:extLst xmlns:a="http://schemas.openxmlformats.org/drawingml/2006/main">
              <a:ext uri="{FF2B5EF4-FFF2-40B4-BE49-F238E27FC236}">
                <a16:creationId xmlns:a16="http://schemas.microsoft.com/office/drawing/2014/main" id="{B5D8B39E-9D9E-4891-AD0B-AAD6CE88F8F7}"/>
              </a:ext>
            </a:extLst>
          </p:cNvPr>
          <p:cNvSpPr>
            <a:spLocks xmlns:a="http://schemas.openxmlformats.org/drawingml/2006/main" noGrp="1"/>
          </p:cNvSpPr>
          <p:nvPr/>
        </p:nvSpPr>
        <p:spPr>
          <a:xfrm xmlns:a="http://schemas.openxmlformats.org/drawingml/2006/main">
            <a:off x="533400" y="4552950"/>
            <a:ext cx="5334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2B3C"/>
                </a:solidFill>
                <a:latin typeface="Bitstream Charter"/>
                <a:ea typeface="Bitstream Charter"/>
                <a:cs typeface="Bitstream Charter"/>
              </a:defRPr>
            </a:pPr>
            <a:r>
              <a:rPr sz="1950" b="0">
                <a:solidFill>
                  <a:srgbClr val="152B3C"/>
                </a:solidFill>
                <a:latin typeface="Bitstream Charter"/>
                <a:ea typeface="Bitstream Charter"/>
                <a:cs typeface="Bitstream Charter"/>
              </a:rPr>
              <a:t>Blur, thiếu sáng, noise, cháy sáng</a:t>
            </a:r>
          </a:p>
          <a:p xmlns:a="http://schemas.openxmlformats.org/drawingml/2006/main">
            <a:pPr>
              <a:defRPr sz="1950" b="0">
                <a:solidFill>
                  <a:srgbClr val="152B3C"/>
                </a:solidFill>
                <a:latin typeface="Bitstream Charter"/>
                <a:ea typeface="Bitstream Charter"/>
                <a:cs typeface="Bitstream Charter"/>
              </a:defRPr>
            </a:pPr>
            <a:r>
              <a:rPr sz="1950" b="0">
                <a:solidFill>
                  <a:srgbClr val="152B3C"/>
                </a:solidFill>
                <a:latin typeface="Bitstream Charter"/>
                <a:ea typeface="Bitstream Charter"/>
                <a:cs typeface="Bitstream Charter"/>
              </a:rPr>
              <a:t>Thêm blur + noise để thử lỗi phối hợp</a:t>
            </a:r>
          </a:p>
          <a:p xmlns:a="http://schemas.openxmlformats.org/drawingml/2006/main">
            <a:pPr>
              <a:defRPr sz="1950" b="0">
                <a:solidFill>
                  <a:srgbClr val="152B3C"/>
                </a:solidFill>
                <a:latin typeface="Bitstream Charter"/>
                <a:ea typeface="Bitstream Charter"/>
                <a:cs typeface="Bitstream Charter"/>
              </a:defRPr>
            </a:pPr>
            <a:r>
              <a:rPr sz="1950" b="0">
                <a:solidFill>
                  <a:srgbClr val="152B3C"/>
                </a:solidFill>
                <a:latin typeface="Bitstream Charter"/>
                <a:ea typeface="Bitstream Charter"/>
                <a:cs typeface="Bitstream Charter"/>
              </a:rPr>
              <a:t>Severity: 0 / 0,25 / 0,50 / 0,75 / 1</a:t>
            </a:r>
          </a:p>
        </p:txBody>
      </p:sp>
      <p:sp>
        <p:nvSpPr>
          <p:cNvPr id="7" name="">
            <a:extLst xmlns:a="http://schemas.openxmlformats.org/drawingml/2006/main">
              <a:ext uri="{FF2B5EF4-FFF2-40B4-BE49-F238E27FC236}">
                <a16:creationId xmlns:a16="http://schemas.microsoft.com/office/drawing/2014/main" id="{3535C24C-BA65-4C73-A02F-31B85D0653C9}"/>
              </a:ext>
            </a:extLst>
          </p:cNvPr>
          <p:cNvSpPr>
            <a:spLocks xmlns:a="http://schemas.openxmlformats.org/drawingml/2006/main" noGrp="1"/>
          </p:cNvSpPr>
          <p:nvPr/>
        </p:nvSpPr>
        <p:spPr>
          <a:xfrm xmlns:a="http://schemas.openxmlformats.org/drawingml/2006/main">
            <a:off x="6477000" y="13620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6B9B"/>
                </a:solidFill>
                <a:latin typeface="Bitstream Charter"/>
                <a:ea typeface="Bitstream Charter"/>
                <a:cs typeface="Bitstream Charter"/>
              </a:defRPr>
            </a:pPr>
            <a:r>
              <a:rPr sz="2250" b="1">
                <a:solidFill>
                  <a:srgbClr val="176B9B"/>
                </a:solidFill>
                <a:latin typeface="Bitstream Charter"/>
                <a:ea typeface="Bitstream Charter"/>
                <a:cs typeface="Bitstream Charter"/>
              </a:rPr>
              <a:t>Các metric</a:t>
            </a:r>
          </a:p>
        </p:txBody>
      </p:sp>
      <p:sp>
        <p:nvSpPr>
          <p:cNvPr id="8" name="">
            <a:extLst xmlns:a="http://schemas.openxmlformats.org/drawingml/2006/main">
              <a:ext uri="{FF2B5EF4-FFF2-40B4-BE49-F238E27FC236}">
                <a16:creationId xmlns:a16="http://schemas.microsoft.com/office/drawing/2014/main" id="{34CA50E1-E18F-448F-8753-A7C70F727EA8}"/>
              </a:ext>
            </a:extLst>
          </p:cNvPr>
          <p:cNvSpPr>
            <a:spLocks xmlns:a="http://schemas.openxmlformats.org/drawingml/2006/main" noGrp="1"/>
          </p:cNvSpPr>
          <p:nvPr/>
        </p:nvSpPr>
        <p:spPr>
          <a:xfrm xmlns:a="http://schemas.openxmlformats.org/drawingml/2006/main">
            <a:off x="6477000" y="1971675"/>
            <a:ext cx="4953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2B3C"/>
                </a:solidFill>
                <a:latin typeface="Bitstream Charter"/>
                <a:ea typeface="Bitstream Charter"/>
                <a:cs typeface="Bitstream Charter"/>
              </a:defRPr>
            </a:pPr>
            <a:r>
              <a:rPr sz="1950" b="0">
                <a:solidFill>
                  <a:srgbClr val="152B3C"/>
                </a:solidFill>
                <a:latin typeface="Bitstream Charter"/>
                <a:ea typeface="Bitstream Charter"/>
                <a:cs typeface="Bitstream Charter"/>
              </a:rPr>
              <a:t>Laplacian variance: độ sắc nét</a:t>
            </a:r>
          </a:p>
          <a:p xmlns:a="http://schemas.openxmlformats.org/drawingml/2006/main">
            <a:pPr>
              <a:defRPr sz="1950" b="0">
                <a:solidFill>
                  <a:srgbClr val="152B3C"/>
                </a:solidFill>
                <a:latin typeface="Bitstream Charter"/>
                <a:ea typeface="Bitstream Charter"/>
                <a:cs typeface="Bitstream Charter"/>
              </a:defRPr>
            </a:pPr>
            <a:r>
              <a:rPr sz="1950" b="0">
                <a:solidFill>
                  <a:srgbClr val="152B3C"/>
                </a:solidFill>
                <a:latin typeface="Bitstream Charter"/>
                <a:ea typeface="Bitstream Charter"/>
                <a:cs typeface="Bitstream Charter"/>
              </a:rPr>
              <a:t>Saturation ratio: pixel sáng ≥ 250</a:t>
            </a:r>
          </a:p>
          <a:p xmlns:a="http://schemas.openxmlformats.org/drawingml/2006/main">
            <a:pPr>
              <a:defRPr sz="1950" b="0">
                <a:solidFill>
                  <a:srgbClr val="152B3C"/>
                </a:solidFill>
                <a:latin typeface="Bitstream Charter"/>
                <a:ea typeface="Bitstream Charter"/>
                <a:cs typeface="Bitstream Charter"/>
              </a:defRPr>
            </a:pPr>
            <a:r>
              <a:rPr sz="1950" b="0">
                <a:solidFill>
                  <a:srgbClr val="152B3C"/>
                </a:solidFill>
                <a:latin typeface="Bitstream Charter"/>
                <a:ea typeface="Bitstream Charter"/>
                <a:cs typeface="Bitstream Charter"/>
              </a:rPr>
              <a:t>Entropy: phân bố cường độ ảnh</a:t>
            </a:r>
          </a:p>
          <a:p xmlns:a="http://schemas.openxmlformats.org/drawingml/2006/main">
            <a:pPr>
              <a:defRPr sz="1950" b="0">
                <a:solidFill>
                  <a:srgbClr val="152B3C"/>
                </a:solidFill>
                <a:latin typeface="Bitstream Charter"/>
                <a:ea typeface="Bitstream Charter"/>
                <a:cs typeface="Bitstream Charter"/>
              </a:defRPr>
            </a:pPr>
            <a:r>
              <a:rPr sz="1950" b="0">
                <a:solidFill>
                  <a:srgbClr val="152B3C"/>
                </a:solidFill>
                <a:latin typeface="Bitstream Charter"/>
                <a:ea typeface="Bitstream Charter"/>
                <a:cs typeface="Bitstream Charter"/>
              </a:rPr>
              <a:t>Health proxy: sharpness × exposure</a:t>
            </a:r>
          </a:p>
        </p:txBody>
      </p:sp>
      <p:sp>
        <p:nvSpPr>
          <p:cNvPr id="9" name="">
            <a:extLst xmlns:a="http://schemas.openxmlformats.org/drawingml/2006/main">
              <a:ext uri="{FF2B5EF4-FFF2-40B4-BE49-F238E27FC236}">
                <a16:creationId xmlns:a16="http://schemas.microsoft.com/office/drawing/2014/main" id="{B9E0B2C0-EE9E-4632-ABAF-5756CCB4C093}"/>
              </a:ext>
            </a:extLst>
          </p:cNvPr>
          <p:cNvSpPr>
            <a:spLocks xmlns:a="http://schemas.openxmlformats.org/drawingml/2006/main" noGrp="1"/>
          </p:cNvSpPr>
          <p:nvPr/>
        </p:nvSpPr>
        <p:spPr>
          <a:xfrm xmlns:a="http://schemas.openxmlformats.org/drawingml/2006/main">
            <a:off x="6477000" y="43243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6B9B"/>
                </a:solidFill>
                <a:latin typeface="Bitstream Charter"/>
                <a:ea typeface="Bitstream Charter"/>
                <a:cs typeface="Bitstream Charter"/>
              </a:defRPr>
            </a:pPr>
            <a:r>
              <a:rPr sz="2250" b="1">
                <a:solidFill>
                  <a:srgbClr val="176B9B"/>
                </a:solidFill>
                <a:latin typeface="Bitstream Charter"/>
                <a:ea typeface="Bitstream Charter"/>
                <a:cs typeface="Bitstream Charter"/>
              </a:rPr>
              <a:t>Giữ box tham chiếu</a:t>
            </a:r>
          </a:p>
        </p:txBody>
      </p:sp>
      <p:sp>
        <p:nvSpPr>
          <p:cNvPr id="10" name="">
            <a:extLst xmlns:a="http://schemas.openxmlformats.org/drawingml/2006/main">
              <a:ext uri="{FF2B5EF4-FFF2-40B4-BE49-F238E27FC236}">
                <a16:creationId xmlns:a16="http://schemas.microsoft.com/office/drawing/2014/main" id="{C1B23136-2B0A-45B1-B28F-7052A7F7F254}"/>
              </a:ext>
            </a:extLst>
          </p:cNvPr>
          <p:cNvSpPr>
            <a:spLocks xmlns:a="http://schemas.openxmlformats.org/drawingml/2006/main" noGrp="1"/>
          </p:cNvSpPr>
          <p:nvPr/>
        </p:nvSpPr>
        <p:spPr>
          <a:xfrm xmlns:a="http://schemas.openxmlformats.org/drawingml/2006/main">
            <a:off x="6477000" y="4867275"/>
            <a:ext cx="5143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2B3C"/>
                </a:solidFill>
                <a:latin typeface="Bitstream Charter"/>
                <a:ea typeface="Bitstream Charter"/>
                <a:cs typeface="Bitstream Charter"/>
              </a:defRPr>
            </a:pPr>
            <a:r>
              <a:rPr sz="1875" b="0">
                <a:solidFill>
                  <a:srgbClr val="152B3C"/>
                </a:solidFill>
                <a:latin typeface="Bitstream Charter"/>
                <a:ea typeface="Bitstream Charter"/>
                <a:cs typeface="Bitstream Charter"/>
              </a:rPr>
              <a:t>Tỷ lệ box ghép được với 4 box ảnh sạch</a:t>
            </a:r>
          </a:p>
          <a:p xmlns:a="http://schemas.openxmlformats.org/drawingml/2006/main">
            <a:pPr>
              <a:defRPr sz="1875" b="0">
                <a:solidFill>
                  <a:srgbClr val="152B3C"/>
                </a:solidFill>
                <a:latin typeface="Bitstream Charter"/>
                <a:ea typeface="Bitstream Charter"/>
                <a:cs typeface="Bitstream Charter"/>
              </a:defRPr>
            </a:pPr>
            <a:r>
              <a:rPr sz="1875" b="0">
                <a:solidFill>
                  <a:srgbClr val="152B3C"/>
                </a:solidFill>
                <a:latin typeface="Bitstream Charter"/>
                <a:ea typeface="Bitstream Charter"/>
                <a:cs typeface="Bitstream Charter"/>
              </a:rPr>
              <a:t>Chỉ đo consistency với ảnh sạch</a:t>
            </a:r>
          </a:p>
          <a:p xmlns:a="http://schemas.openxmlformats.org/drawingml/2006/main">
            <a:pPr>
              <a:defRPr sz="1875" b="0">
                <a:solidFill>
                  <a:srgbClr val="152B3C"/>
                </a:solidFill>
                <a:latin typeface="Bitstream Charter"/>
                <a:ea typeface="Bitstream Charter"/>
                <a:cs typeface="Bitstream Charter"/>
              </a:defRPr>
            </a:pPr>
            <a:r>
              <a:rPr sz="1875" b="0">
                <a:solidFill>
                  <a:srgbClr val="152B3C"/>
                </a:solidFill>
                <a:latin typeface="Bitstream Charter"/>
                <a:ea typeface="Bitstream Charter"/>
                <a:cs typeface="Bitstream Charter"/>
              </a:rPr>
              <a:t>Không có nhãn ground truth để tính mAP</a:t>
            </a:r>
          </a:p>
        </p:txBody>
      </p:sp>
    </p:spTree>
    <p:extLst>
      <p:ext uri="{BB962C8B-B14F-4D97-AF65-F5344CB8AC3E}">
        <p14:creationId xmlns:p14="http://schemas.microsoft.com/office/powerpoint/2010/main" val="975655272"/>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8704CF9-C471-4E7D-82F9-687B0B7D30FD}"/>
              </a:ext>
            </a:extLst>
          </p:cNvPr>
          <p:cNvSpPr>
            <a:spLocks xmlns:a="http://schemas.openxmlformats.org/drawingml/2006/main" noGrp="1"/>
          </p:cNvSpPr>
          <p:nvPr/>
        </p:nvSpPr>
        <p:spPr>
          <a:xfrm xmlns:a="http://schemas.openxmlformats.org/drawingml/2006/main">
            <a:off x="514350" y="323850"/>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C"/>
                </a:solidFill>
                <a:latin typeface="Bitstream Charter"/>
                <a:ea typeface="Bitstream Charter"/>
                <a:cs typeface="Bitstream Charter"/>
              </a:defRPr>
            </a:pPr>
            <a:r>
              <a:rPr sz="3300" b="1">
                <a:solidFill>
                  <a:srgbClr val="152B3C"/>
                </a:solidFill>
                <a:latin typeface="Bitstream Charter"/>
                <a:ea typeface="Bitstream Charter"/>
                <a:cs typeface="Bitstream Charter"/>
              </a:rPr>
              <a:t>Blur mạnh làm mất box tham chiếu</a:t>
            </a:r>
          </a:p>
        </p:txBody>
      </p:sp>
      <p:sp>
        <p:nvSpPr>
          <p:cNvPr id="2" name="">
            <a:extLst xmlns:a="http://schemas.openxmlformats.org/drawingml/2006/main">
              <a:ext uri="{FF2B5EF4-FFF2-40B4-BE49-F238E27FC236}">
                <a16:creationId xmlns:a16="http://schemas.microsoft.com/office/drawing/2014/main" id="{A74B7EC4-2691-4FDC-BFF4-AD74A92487BC}"/>
              </a:ext>
            </a:extLst>
          </p:cNvPr>
          <p:cNvSpPr>
            <a:spLocks xmlns:a="http://schemas.openxmlformats.org/drawingml/2006/main" noGrp="1"/>
          </p:cNvSpPr>
          <p:nvPr/>
        </p:nvSpPr>
        <p:spPr>
          <a:xfrm xmlns:a="http://schemas.openxmlformats.org/drawingml/2006/main">
            <a:off x="11334750" y="643890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7"/>
                </a:solidFill>
                <a:latin typeface="Bitstream Charter"/>
                <a:ea typeface="Bitstream Charter"/>
                <a:cs typeface="Bitstream Charter"/>
              </a:defRPr>
            </a:pPr>
            <a:r>
              <a:rPr sz="1350" b="0">
                <a:solidFill>
                  <a:srgbClr val="536877"/>
                </a:solidFill>
                <a:latin typeface="Bitstream Charter"/>
                <a:ea typeface="Bitstream Charter"/>
                <a:cs typeface="Bitstream Charter"/>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6cbf789283449aa"/>
          <a:stretch xmlns:a="http://schemas.openxmlformats.org/drawingml/2006/main"/>
        </p:blipFill>
        <p:spPr>
          <a:xfrm xmlns:a="http://schemas.openxmlformats.org/drawingml/2006/main">
            <a:off x="514350" y="1457325"/>
            <a:ext cx="2286000" cy="30480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82b6108286a436c"/>
          <a:stretch xmlns:a="http://schemas.openxmlformats.org/drawingml/2006/main"/>
        </p:blipFill>
        <p:spPr>
          <a:xfrm xmlns:a="http://schemas.openxmlformats.org/drawingml/2006/main">
            <a:off x="3019425" y="1457325"/>
            <a:ext cx="2286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BE31F66-8078-4A31-AEAF-6CAA05DC1263}"/>
              </a:ext>
            </a:extLst>
          </p:cNvPr>
          <p:cNvSpPr>
            <a:spLocks xmlns:a="http://schemas.openxmlformats.org/drawingml/2006/main" noGrp="1"/>
          </p:cNvSpPr>
          <p:nvPr/>
        </p:nvSpPr>
        <p:spPr>
          <a:xfrm xmlns:a="http://schemas.openxmlformats.org/drawingml/2006/main">
            <a:off x="657225" y="4629150"/>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36877"/>
                </a:solidFill>
                <a:latin typeface="Bitstream Charter"/>
                <a:ea typeface="Bitstream Charter"/>
                <a:cs typeface="Bitstream Charter"/>
              </a:defRPr>
            </a:pPr>
            <a:r>
              <a:rPr sz="1875" b="1">
                <a:solidFill>
                  <a:srgbClr val="536877"/>
                </a:solidFill>
                <a:latin typeface="Bitstream Charter"/>
                <a:ea typeface="Bitstream Charter"/>
                <a:cs typeface="Bitstream Charter"/>
              </a:rPr>
              <a:t>s = 0,25</a:t>
            </a:r>
          </a:p>
        </p:txBody>
      </p:sp>
      <p:sp>
        <p:nvSpPr>
          <p:cNvPr id="6" name="">
            <a:extLst xmlns:a="http://schemas.openxmlformats.org/drawingml/2006/main">
              <a:ext uri="{FF2B5EF4-FFF2-40B4-BE49-F238E27FC236}">
                <a16:creationId xmlns:a16="http://schemas.microsoft.com/office/drawing/2014/main" id="{D7E3E269-8652-4028-8395-41F50C278CB1}"/>
              </a:ext>
            </a:extLst>
          </p:cNvPr>
          <p:cNvSpPr>
            <a:spLocks xmlns:a="http://schemas.openxmlformats.org/drawingml/2006/main" noGrp="1"/>
          </p:cNvSpPr>
          <p:nvPr/>
        </p:nvSpPr>
        <p:spPr>
          <a:xfrm xmlns:a="http://schemas.openxmlformats.org/drawingml/2006/main">
            <a:off x="3162300" y="4629150"/>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36877"/>
                </a:solidFill>
                <a:latin typeface="Bitstream Charter"/>
                <a:ea typeface="Bitstream Charter"/>
                <a:cs typeface="Bitstream Charter"/>
              </a:defRPr>
            </a:pPr>
            <a:r>
              <a:rPr sz="1875" b="1">
                <a:solidFill>
                  <a:srgbClr val="536877"/>
                </a:solidFill>
                <a:latin typeface="Bitstream Charter"/>
                <a:ea typeface="Bitstream Charter"/>
                <a:cs typeface="Bitstream Charter"/>
              </a:rPr>
              <a:t>s = 1,00</a:t>
            </a:r>
          </a:p>
        </p:txBody>
      </p:sp>
      <p:graphicFrame>
        <p:nvGraphicFramePr>
          <p:cNvPr id="16" name="Chart"/>
          <p:cNvGraphicFramePr/>
          <p:nvPr/>
        </p:nvGraphicFramePr>
        <p:xfrm>
          <a:off xmlns:a="http://schemas.openxmlformats.org/drawingml/2006/main" x="5715000" y="1323975"/>
          <a:ext xmlns:a="http://schemas.openxmlformats.org/drawingml/2006/main" cx="5905500" cy="3829050"/>
        </p:xfrm>
        <a:graphic xmlns:a="http://schemas.openxmlformats.org/drawingml/2006/main">
          <a:graphicData uri="http://schemas.openxmlformats.org/drawingml/2006/chart">
            <c:chart xmlns:r="http://schemas.openxmlformats.org/officeDocument/2006/relationships" xmlns:c="http://schemas.openxmlformats.org/drawingml/2006/chart" r:id="Rbfeaa213b056417e"/>
          </a:graphicData>
        </a:graphic>
      </p:graphicFrame>
      <p:sp>
        <p:nvSpPr>
          <p:cNvPr id="8" name="">
            <a:extLst xmlns:a="http://schemas.openxmlformats.org/drawingml/2006/main">
              <a:ext uri="{FF2B5EF4-FFF2-40B4-BE49-F238E27FC236}">
                <a16:creationId xmlns:a16="http://schemas.microsoft.com/office/drawing/2014/main" id="{3BC04CDA-514E-4753-BCC2-2B7B1B88648F}"/>
              </a:ext>
            </a:extLst>
          </p:cNvPr>
          <p:cNvSpPr>
            <a:spLocks xmlns:a="http://schemas.openxmlformats.org/drawingml/2006/main" noGrp="1"/>
          </p:cNvSpPr>
          <p:nvPr/>
        </p:nvSpPr>
        <p:spPr>
          <a:xfrm xmlns:a="http://schemas.openxmlformats.org/drawingml/2006/main">
            <a:off x="533400" y="5381625"/>
            <a:ext cx="5048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2B3C"/>
                </a:solidFill>
                <a:latin typeface="Bitstream Charter"/>
                <a:ea typeface="Bitstream Charter"/>
                <a:cs typeface="Bitstream Charter"/>
              </a:defRPr>
            </a:pPr>
            <a:r>
              <a:rPr sz="2100" b="1">
                <a:solidFill>
                  <a:srgbClr val="152B3C"/>
                </a:solidFill>
                <a:latin typeface="Bitstream Charter"/>
                <a:ea typeface="Bitstream Charter"/>
                <a:cs typeface="Bitstream Charter"/>
              </a:rPr>
              <a:t>Laplacian: 2.702 xuống 132</a:t>
            </a:r>
          </a:p>
          <a:p xmlns:a="http://schemas.openxmlformats.org/drawingml/2006/main">
            <a:pPr>
              <a:defRPr sz="2100" b="1">
                <a:solidFill>
                  <a:srgbClr val="152B3C"/>
                </a:solidFill>
                <a:latin typeface="Bitstream Charter"/>
                <a:ea typeface="Bitstream Charter"/>
                <a:cs typeface="Bitstream Charter"/>
              </a:defRPr>
            </a:pPr>
            <a:r>
              <a:rPr sz="2100" b="1">
                <a:solidFill>
                  <a:srgbClr val="152B3C"/>
                </a:solidFill>
                <a:latin typeface="Bitstream Charter"/>
                <a:ea typeface="Bitstream Charter"/>
                <a:cs typeface="Bitstream Charter"/>
              </a:rPr>
              <a:t>YOLO: 4 xuống 2 detections</a:t>
            </a:r>
          </a:p>
        </p:txBody>
      </p:sp>
      <p:sp>
        <p:nvSpPr>
          <p:cNvPr id="9" name="">
            <a:extLst xmlns:a="http://schemas.openxmlformats.org/drawingml/2006/main">
              <a:ext uri="{FF2B5EF4-FFF2-40B4-BE49-F238E27FC236}">
                <a16:creationId xmlns:a16="http://schemas.microsoft.com/office/drawing/2014/main" id="{91519967-5324-434E-B7AB-E033DB00D21C}"/>
              </a:ext>
            </a:extLst>
          </p:cNvPr>
          <p:cNvSpPr>
            <a:spLocks xmlns:a="http://schemas.openxmlformats.org/drawingml/2006/main" noGrp="1"/>
          </p:cNvSpPr>
          <p:nvPr/>
        </p:nvSpPr>
        <p:spPr>
          <a:xfrm xmlns:a="http://schemas.openxmlformats.org/drawingml/2006/main">
            <a:off x="6238875" y="5381625"/>
            <a:ext cx="5381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3C"/>
                </a:solidFill>
                <a:latin typeface="Bitstream Charter"/>
                <a:ea typeface="Bitstream Charter"/>
                <a:cs typeface="Bitstream Charter"/>
              </a:defRPr>
            </a:pPr>
            <a:r>
              <a:rPr sz="2025" b="0">
                <a:solidFill>
                  <a:srgbClr val="152B3C"/>
                </a:solidFill>
                <a:latin typeface="Bitstream Charter"/>
                <a:ea typeface="Bitstream Charter"/>
                <a:cs typeface="Bitstream Charter"/>
              </a:rPr>
              <a:t>Mức s = 1,00 giữ 2/4 box ảnh sạch</a:t>
            </a:r>
          </a:p>
          <a:p xmlns:a="http://schemas.openxmlformats.org/drawingml/2006/main">
            <a:pPr>
              <a:defRPr sz="2025" b="0">
                <a:solidFill>
                  <a:srgbClr val="152B3C"/>
                </a:solidFill>
                <a:latin typeface="Bitstream Charter"/>
                <a:ea typeface="Bitstream Charter"/>
                <a:cs typeface="Bitstream Charter"/>
              </a:defRPr>
            </a:pPr>
            <a:r>
              <a:rPr sz="2025" b="0">
                <a:solidFill>
                  <a:srgbClr val="152B3C"/>
                </a:solidFill>
                <a:latin typeface="Bitstream Charter"/>
                <a:ea typeface="Bitstream Charter"/>
                <a:cs typeface="Bitstream Charter"/>
              </a:rPr>
              <a:t>Proxy giảm sớm hơn mất box</a:t>
            </a:r>
          </a:p>
        </p:txBody>
      </p:sp>
    </p:spTree>
    <p:extLst>
      <p:ext uri="{BB962C8B-B14F-4D97-AF65-F5344CB8AC3E}">
        <p14:creationId xmlns:p14="http://schemas.microsoft.com/office/powerpoint/2010/main" val="1923791118"/>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283CEA-144A-433B-81E6-BECE3079BE45}"/>
              </a:ext>
            </a:extLst>
          </p:cNvPr>
          <p:cNvSpPr>
            <a:spLocks xmlns:a="http://schemas.openxmlformats.org/drawingml/2006/main" noGrp="1"/>
          </p:cNvSpPr>
          <p:nvPr/>
        </p:nvSpPr>
        <p:spPr>
          <a:xfrm xmlns:a="http://schemas.openxmlformats.org/drawingml/2006/main">
            <a:off x="514350" y="323850"/>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C"/>
                </a:solidFill>
                <a:latin typeface="Bitstream Charter"/>
                <a:ea typeface="Bitstream Charter"/>
                <a:cs typeface="Bitstream Charter"/>
              </a:defRPr>
            </a:pPr>
            <a:r>
              <a:rPr sz="3300" b="1">
                <a:solidFill>
                  <a:srgbClr val="152B3C"/>
                </a:solidFill>
                <a:latin typeface="Bitstream Charter"/>
                <a:ea typeface="Bitstream Charter"/>
                <a:cs typeface="Bitstream Charter"/>
              </a:rPr>
              <a:t>Ảnh rất tối vẫn giữ 4 box tham chiếu</a:t>
            </a:r>
          </a:p>
        </p:txBody>
      </p:sp>
      <p:sp>
        <p:nvSpPr>
          <p:cNvPr id="2" name="">
            <a:extLst xmlns:a="http://schemas.openxmlformats.org/drawingml/2006/main">
              <a:ext uri="{FF2B5EF4-FFF2-40B4-BE49-F238E27FC236}">
                <a16:creationId xmlns:a16="http://schemas.microsoft.com/office/drawing/2014/main" id="{5F1DC683-0D47-4235-B26D-0545D93BE48C}"/>
              </a:ext>
            </a:extLst>
          </p:cNvPr>
          <p:cNvSpPr>
            <a:spLocks xmlns:a="http://schemas.openxmlformats.org/drawingml/2006/main" noGrp="1"/>
          </p:cNvSpPr>
          <p:nvPr/>
        </p:nvSpPr>
        <p:spPr>
          <a:xfrm xmlns:a="http://schemas.openxmlformats.org/drawingml/2006/main">
            <a:off x="11334750" y="643890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7"/>
                </a:solidFill>
                <a:latin typeface="Bitstream Charter"/>
                <a:ea typeface="Bitstream Charter"/>
                <a:cs typeface="Bitstream Charter"/>
              </a:defRPr>
            </a:pPr>
            <a:r>
              <a:rPr sz="1350" b="0">
                <a:solidFill>
                  <a:srgbClr val="536877"/>
                </a:solidFill>
                <a:latin typeface="Bitstream Charter"/>
                <a:ea typeface="Bitstream Charter"/>
                <a:cs typeface="Bitstream Charter"/>
              </a:rPr>
              <a:t>05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73b91e7c75a4f5d"/>
          <a:stretch xmlns:a="http://schemas.openxmlformats.org/drawingml/2006/main"/>
        </p:blipFill>
        <p:spPr>
          <a:xfrm xmlns:a="http://schemas.openxmlformats.org/drawingml/2006/main">
            <a:off x="542925" y="1346200"/>
            <a:ext cx="3352800" cy="4470400"/>
          </a:xfrm>
          <a:prstGeom xmlns:a="http://schemas.openxmlformats.org/drawingml/2006/main" prst="rect">
            <a:avLst/>
          </a:prstGeom>
        </p:spPr>
      </p:pic>
      <p:graphicFrame>
        <p:nvGraphicFramePr>
          <p:cNvPr id="10" name="Chart"/>
          <p:cNvGraphicFramePr/>
          <p:nvPr/>
        </p:nvGraphicFramePr>
        <p:xfrm>
          <a:off xmlns:a="http://schemas.openxmlformats.org/drawingml/2006/main" x="4543425" y="1323975"/>
          <a:ext xmlns:a="http://schemas.openxmlformats.org/drawingml/2006/main" cx="7048500" cy="3895725"/>
        </p:xfrm>
        <a:graphic xmlns:a="http://schemas.openxmlformats.org/drawingml/2006/main">
          <a:graphicData uri="http://schemas.openxmlformats.org/drawingml/2006/chart">
            <c:chart xmlns:r="http://schemas.openxmlformats.org/officeDocument/2006/relationships" xmlns:c="http://schemas.openxmlformats.org/drawingml/2006/chart" r:id="R95084cd6201e41d1"/>
          </a:graphicData>
        </a:graphic>
      </p:graphicFrame>
      <p:sp>
        <p:nvSpPr>
          <p:cNvPr id="5" name="">
            <a:extLst xmlns:a="http://schemas.openxmlformats.org/drawingml/2006/main">
              <a:ext uri="{FF2B5EF4-FFF2-40B4-BE49-F238E27FC236}">
                <a16:creationId xmlns:a16="http://schemas.microsoft.com/office/drawing/2014/main" id="{D3B48409-DC93-4B59-B1B2-215907D8F12C}"/>
              </a:ext>
            </a:extLst>
          </p:cNvPr>
          <p:cNvSpPr>
            <a:spLocks xmlns:a="http://schemas.openxmlformats.org/drawingml/2006/main" noGrp="1"/>
          </p:cNvSpPr>
          <p:nvPr/>
        </p:nvSpPr>
        <p:spPr>
          <a:xfrm xmlns:a="http://schemas.openxmlformats.org/drawingml/2006/main">
            <a:off x="542925" y="5953125"/>
            <a:ext cx="542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2B3C"/>
                </a:solidFill>
                <a:latin typeface="Bitstream Charter"/>
                <a:ea typeface="Bitstream Charter"/>
                <a:cs typeface="Bitstream Charter"/>
              </a:defRPr>
            </a:pPr>
            <a:r>
              <a:rPr sz="1875" b="1">
                <a:solidFill>
                  <a:srgbClr val="152B3C"/>
                </a:solidFill>
                <a:latin typeface="Bitstream Charter"/>
                <a:ea typeface="Bitstream Charter"/>
                <a:cs typeface="Bitstream Charter"/>
              </a:rPr>
              <a:t>92,7% pixel tối</a:t>
            </a:r>
          </a:p>
          <a:p xmlns:a="http://schemas.openxmlformats.org/drawingml/2006/main">
            <a:pPr>
              <a:defRPr sz="1875" b="1">
                <a:solidFill>
                  <a:srgbClr val="152B3C"/>
                </a:solidFill>
                <a:latin typeface="Bitstream Charter"/>
                <a:ea typeface="Bitstream Charter"/>
                <a:cs typeface="Bitstream Charter"/>
              </a:defRPr>
            </a:pPr>
            <a:r>
              <a:rPr sz="1875" b="1">
                <a:solidFill>
                  <a:srgbClr val="152B3C"/>
                </a:solidFill>
                <a:latin typeface="Bitstream Charter"/>
                <a:ea typeface="Bitstream Charter"/>
                <a:cs typeface="Bitstream Charter"/>
              </a:rPr>
              <a:t>Health proxy ≈ 0,001</a:t>
            </a:r>
          </a:p>
        </p:txBody>
      </p:sp>
      <p:sp>
        <p:nvSpPr>
          <p:cNvPr id="6" name="">
            <a:extLst xmlns:a="http://schemas.openxmlformats.org/drawingml/2006/main">
              <a:ext uri="{FF2B5EF4-FFF2-40B4-BE49-F238E27FC236}">
                <a16:creationId xmlns:a16="http://schemas.microsoft.com/office/drawing/2014/main" id="{BA69BFA8-5307-42C8-9ACD-51B16B5A3105}"/>
              </a:ext>
            </a:extLst>
          </p:cNvPr>
          <p:cNvSpPr>
            <a:spLocks xmlns:a="http://schemas.openxmlformats.org/drawingml/2006/main" noGrp="1"/>
          </p:cNvSpPr>
          <p:nvPr/>
        </p:nvSpPr>
        <p:spPr>
          <a:xfrm xmlns:a="http://schemas.openxmlformats.org/drawingml/2006/main">
            <a:off x="4552950" y="5419725"/>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2B3C"/>
                </a:solidFill>
                <a:latin typeface="Bitstream Charter"/>
                <a:ea typeface="Bitstream Charter"/>
                <a:cs typeface="Bitstream Charter"/>
              </a:defRPr>
            </a:pPr>
            <a:r>
              <a:rPr sz="1875" b="0">
                <a:solidFill>
                  <a:srgbClr val="152B3C"/>
                </a:solidFill>
                <a:latin typeface="Bitstream Charter"/>
                <a:ea typeface="Bitstream Charter"/>
                <a:cs typeface="Bitstream Charter"/>
              </a:rPr>
              <a:t>YOLO trả về 5 detections ở s = 1,00</a:t>
            </a:r>
          </a:p>
          <a:p xmlns:a="http://schemas.openxmlformats.org/drawingml/2006/main">
            <a:pPr>
              <a:defRPr sz="1875" b="0">
                <a:solidFill>
                  <a:srgbClr val="152B3C"/>
                </a:solidFill>
                <a:latin typeface="Bitstream Charter"/>
                <a:ea typeface="Bitstream Charter"/>
                <a:cs typeface="Bitstream Charter"/>
              </a:defRPr>
            </a:pPr>
            <a:r>
              <a:rPr sz="1875" b="0">
                <a:solidFill>
                  <a:srgbClr val="152B3C"/>
                </a:solidFill>
                <a:latin typeface="Bitstream Charter"/>
                <a:ea typeface="Bitstream Charter"/>
                <a:cs typeface="Bitstream Charter"/>
              </a:rPr>
              <a:t>4 box sạch vẫn ghép được, confidence ghép 0,775</a:t>
            </a:r>
          </a:p>
        </p:txBody>
      </p:sp>
    </p:spTree>
    <p:extLst>
      <p:ext uri="{BB962C8B-B14F-4D97-AF65-F5344CB8AC3E}">
        <p14:creationId xmlns:p14="http://schemas.microsoft.com/office/powerpoint/2010/main" val="391583935"/>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0D062E-E5D0-4411-9B79-A464A3B8B1AF}"/>
              </a:ext>
            </a:extLst>
          </p:cNvPr>
          <p:cNvSpPr>
            <a:spLocks xmlns:a="http://schemas.openxmlformats.org/drawingml/2006/main" noGrp="1"/>
          </p:cNvSpPr>
          <p:nvPr/>
        </p:nvSpPr>
        <p:spPr>
          <a:xfrm xmlns:a="http://schemas.openxmlformats.org/drawingml/2006/main">
            <a:off x="514350" y="323850"/>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C"/>
                </a:solidFill>
                <a:latin typeface="Bitstream Charter"/>
                <a:ea typeface="Bitstream Charter"/>
                <a:cs typeface="Bitstream Charter"/>
              </a:defRPr>
            </a:pPr>
            <a:r>
              <a:rPr sz="3300" b="1">
                <a:solidFill>
                  <a:srgbClr val="152B3C"/>
                </a:solidFill>
                <a:latin typeface="Bitstream Charter"/>
                <a:ea typeface="Bitstream Charter"/>
                <a:cs typeface="Bitstream Charter"/>
              </a:rPr>
              <a:t>Noise khiến health proxy đánh giá sai</a:t>
            </a:r>
          </a:p>
        </p:txBody>
      </p:sp>
      <p:sp>
        <p:nvSpPr>
          <p:cNvPr id="2" name="">
            <a:extLst xmlns:a="http://schemas.openxmlformats.org/drawingml/2006/main">
              <a:ext uri="{FF2B5EF4-FFF2-40B4-BE49-F238E27FC236}">
                <a16:creationId xmlns:a16="http://schemas.microsoft.com/office/drawing/2014/main" id="{728D9BB4-B378-4DDF-9977-AEF1D9D0D193}"/>
              </a:ext>
            </a:extLst>
          </p:cNvPr>
          <p:cNvSpPr>
            <a:spLocks xmlns:a="http://schemas.openxmlformats.org/drawingml/2006/main" noGrp="1"/>
          </p:cNvSpPr>
          <p:nvPr/>
        </p:nvSpPr>
        <p:spPr>
          <a:xfrm xmlns:a="http://schemas.openxmlformats.org/drawingml/2006/main">
            <a:off x="11334750" y="643890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7"/>
                </a:solidFill>
                <a:latin typeface="Bitstream Charter"/>
                <a:ea typeface="Bitstream Charter"/>
                <a:cs typeface="Bitstream Charter"/>
              </a:defRPr>
            </a:pPr>
            <a:r>
              <a:rPr sz="1350" b="0">
                <a:solidFill>
                  <a:srgbClr val="536877"/>
                </a:solidFill>
                <a:latin typeface="Bitstream Charter"/>
                <a:ea typeface="Bitstream Charter"/>
                <a:cs typeface="Bitstream Charter"/>
              </a:rPr>
              <a:t>06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09a3edf433d4225"/>
          <a:stretch xmlns:a="http://schemas.openxmlformats.org/drawingml/2006/main"/>
        </p:blipFill>
        <p:spPr>
          <a:xfrm xmlns:a="http://schemas.openxmlformats.org/drawingml/2006/main">
            <a:off x="704850" y="1325563"/>
            <a:ext cx="2762250" cy="36830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9a1e600d65b4280"/>
          <a:stretch xmlns:a="http://schemas.openxmlformats.org/drawingml/2006/main"/>
        </p:blipFill>
        <p:spPr>
          <a:xfrm xmlns:a="http://schemas.openxmlformats.org/drawingml/2006/main">
            <a:off x="4286250" y="1325563"/>
            <a:ext cx="2762250" cy="3683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21AE9D9-C18A-49B4-B901-B7E371753DC5}"/>
              </a:ext>
            </a:extLst>
          </p:cNvPr>
          <p:cNvSpPr>
            <a:spLocks xmlns:a="http://schemas.openxmlformats.org/drawingml/2006/main" noGrp="1"/>
          </p:cNvSpPr>
          <p:nvPr/>
        </p:nvSpPr>
        <p:spPr>
          <a:xfrm xmlns:a="http://schemas.openxmlformats.org/drawingml/2006/main">
            <a:off x="714375" y="5124450"/>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6B9B"/>
                </a:solidFill>
                <a:latin typeface="Bitstream Charter"/>
                <a:ea typeface="Bitstream Charter"/>
                <a:cs typeface="Bitstream Charter"/>
              </a:defRPr>
            </a:pPr>
            <a:r>
              <a:rPr sz="1950" b="1">
                <a:solidFill>
                  <a:srgbClr val="176B9B"/>
                </a:solidFill>
                <a:latin typeface="Bitstream Charter"/>
                <a:ea typeface="Bitstream Charter"/>
                <a:cs typeface="Bitstream Charter"/>
              </a:rPr>
              <a:t>Blur, s = 0,75</a:t>
            </a:r>
          </a:p>
        </p:txBody>
      </p:sp>
      <p:sp>
        <p:nvSpPr>
          <p:cNvPr id="6" name="">
            <a:extLst xmlns:a="http://schemas.openxmlformats.org/drawingml/2006/main">
              <a:ext uri="{FF2B5EF4-FFF2-40B4-BE49-F238E27FC236}">
                <a16:creationId xmlns:a16="http://schemas.microsoft.com/office/drawing/2014/main" id="{9BEB92C4-8335-4241-9D15-D8EDA92B90ED}"/>
              </a:ext>
            </a:extLst>
          </p:cNvPr>
          <p:cNvSpPr>
            <a:spLocks xmlns:a="http://schemas.openxmlformats.org/drawingml/2006/main" noGrp="1"/>
          </p:cNvSpPr>
          <p:nvPr/>
        </p:nvSpPr>
        <p:spPr>
          <a:xfrm xmlns:a="http://schemas.openxmlformats.org/drawingml/2006/main">
            <a:off x="4286250" y="5124450"/>
            <a:ext cx="352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B74747"/>
                </a:solidFill>
                <a:latin typeface="Bitstream Charter"/>
                <a:ea typeface="Bitstream Charter"/>
                <a:cs typeface="Bitstream Charter"/>
              </a:defRPr>
            </a:pPr>
            <a:r>
              <a:rPr sz="1950" b="1">
                <a:solidFill>
                  <a:srgbClr val="B74747"/>
                </a:solidFill>
                <a:latin typeface="Bitstream Charter"/>
                <a:ea typeface="Bitstream Charter"/>
                <a:cs typeface="Bitstream Charter"/>
              </a:rPr>
              <a:t>Blur + noise, s = 0,75</a:t>
            </a:r>
          </a:p>
        </p:txBody>
      </p:sp>
      <p:sp>
        <p:nvSpPr>
          <p:cNvPr id="7" name="">
            <a:extLst xmlns:a="http://schemas.openxmlformats.org/drawingml/2006/main">
              <a:ext uri="{FF2B5EF4-FFF2-40B4-BE49-F238E27FC236}">
                <a16:creationId xmlns:a16="http://schemas.microsoft.com/office/drawing/2014/main" id="{7D331C94-CBF8-4F94-A61F-3E1717648F86}"/>
              </a:ext>
            </a:extLst>
          </p:cNvPr>
          <p:cNvSpPr>
            <a:spLocks xmlns:a="http://schemas.openxmlformats.org/drawingml/2006/main" noGrp="1"/>
          </p:cNvSpPr>
          <p:nvPr/>
        </p:nvSpPr>
        <p:spPr>
          <a:xfrm xmlns:a="http://schemas.openxmlformats.org/drawingml/2006/main">
            <a:off x="714375" y="5610225"/>
            <a:ext cx="3286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2B3C"/>
                </a:solidFill>
                <a:latin typeface="Bitstream Charter"/>
                <a:ea typeface="Bitstream Charter"/>
                <a:cs typeface="Bitstream Charter"/>
              </a:defRPr>
            </a:pPr>
            <a:r>
              <a:rPr sz="1875" b="0">
                <a:solidFill>
                  <a:srgbClr val="152B3C"/>
                </a:solidFill>
                <a:latin typeface="Bitstream Charter"/>
                <a:ea typeface="Bitstream Charter"/>
                <a:cs typeface="Bitstream Charter"/>
              </a:rPr>
              <a:t>Laplacian: 177</a:t>
            </a:r>
          </a:p>
          <a:p xmlns:a="http://schemas.openxmlformats.org/drawingml/2006/main">
            <a:pPr>
              <a:defRPr sz="1875" b="0">
                <a:solidFill>
                  <a:srgbClr val="152B3C"/>
                </a:solidFill>
                <a:latin typeface="Bitstream Charter"/>
                <a:ea typeface="Bitstream Charter"/>
                <a:cs typeface="Bitstream Charter"/>
              </a:defRPr>
            </a:pPr>
            <a:r>
              <a:rPr sz="1875" b="0">
                <a:solidFill>
                  <a:srgbClr val="152B3C"/>
                </a:solidFill>
                <a:latin typeface="Bitstream Charter"/>
                <a:ea typeface="Bitstream Charter"/>
                <a:cs typeface="Bitstream Charter"/>
              </a:rPr>
              <a:t>Health proxy: 0,066</a:t>
            </a:r>
          </a:p>
          <a:p xmlns:a="http://schemas.openxmlformats.org/drawingml/2006/main">
            <a:pPr>
              <a:defRPr sz="1875" b="0">
                <a:solidFill>
                  <a:srgbClr val="152B3C"/>
                </a:solidFill>
                <a:latin typeface="Bitstream Charter"/>
                <a:ea typeface="Bitstream Charter"/>
                <a:cs typeface="Bitstream Charter"/>
              </a:defRPr>
            </a:pPr>
            <a:r>
              <a:rPr sz="1875" b="0">
                <a:solidFill>
                  <a:srgbClr val="152B3C"/>
                </a:solidFill>
                <a:latin typeface="Bitstream Charter"/>
                <a:ea typeface="Bitstream Charter"/>
                <a:cs typeface="Bitstream Charter"/>
              </a:rPr>
              <a:t>Giữ box: 4/4</a:t>
            </a:r>
          </a:p>
        </p:txBody>
      </p:sp>
      <p:sp>
        <p:nvSpPr>
          <p:cNvPr id="8" name="">
            <a:extLst xmlns:a="http://schemas.openxmlformats.org/drawingml/2006/main">
              <a:ext uri="{FF2B5EF4-FFF2-40B4-BE49-F238E27FC236}">
                <a16:creationId xmlns:a16="http://schemas.microsoft.com/office/drawing/2014/main" id="{FB62E8CF-1A8B-4E0F-8153-7644A6D4027F}"/>
              </a:ext>
            </a:extLst>
          </p:cNvPr>
          <p:cNvSpPr>
            <a:spLocks xmlns:a="http://schemas.openxmlformats.org/drawingml/2006/main" noGrp="1"/>
          </p:cNvSpPr>
          <p:nvPr/>
        </p:nvSpPr>
        <p:spPr>
          <a:xfrm xmlns:a="http://schemas.openxmlformats.org/drawingml/2006/main">
            <a:off x="4286250" y="5610225"/>
            <a:ext cx="3286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2B3C"/>
                </a:solidFill>
                <a:latin typeface="Bitstream Charter"/>
                <a:ea typeface="Bitstream Charter"/>
                <a:cs typeface="Bitstream Charter"/>
              </a:defRPr>
            </a:pPr>
            <a:r>
              <a:rPr sz="1875" b="0">
                <a:solidFill>
                  <a:srgbClr val="152B3C"/>
                </a:solidFill>
                <a:latin typeface="Bitstream Charter"/>
                <a:ea typeface="Bitstream Charter"/>
                <a:cs typeface="Bitstream Charter"/>
              </a:rPr>
              <a:t>Laplacian: 7.708</a:t>
            </a:r>
          </a:p>
          <a:p xmlns:a="http://schemas.openxmlformats.org/drawingml/2006/main">
            <a:pPr>
              <a:defRPr sz="1875" b="0">
                <a:solidFill>
                  <a:srgbClr val="152B3C"/>
                </a:solidFill>
                <a:latin typeface="Bitstream Charter"/>
                <a:ea typeface="Bitstream Charter"/>
                <a:cs typeface="Bitstream Charter"/>
              </a:defRPr>
            </a:pPr>
            <a:r>
              <a:rPr sz="1875" b="0">
                <a:solidFill>
                  <a:srgbClr val="152B3C"/>
                </a:solidFill>
                <a:latin typeface="Bitstream Charter"/>
                <a:ea typeface="Bitstream Charter"/>
                <a:cs typeface="Bitstream Charter"/>
              </a:rPr>
              <a:t>Health proxy: 1,000</a:t>
            </a:r>
          </a:p>
          <a:p xmlns:a="http://schemas.openxmlformats.org/drawingml/2006/main">
            <a:pPr>
              <a:defRPr sz="1875" b="0">
                <a:solidFill>
                  <a:srgbClr val="152B3C"/>
                </a:solidFill>
                <a:latin typeface="Bitstream Charter"/>
                <a:ea typeface="Bitstream Charter"/>
                <a:cs typeface="Bitstream Charter"/>
              </a:defRPr>
            </a:pPr>
            <a:r>
              <a:rPr sz="1875" b="0">
                <a:solidFill>
                  <a:srgbClr val="152B3C"/>
                </a:solidFill>
                <a:latin typeface="Bitstream Charter"/>
                <a:ea typeface="Bitstream Charter"/>
                <a:cs typeface="Bitstream Charter"/>
              </a:rPr>
              <a:t>Giữ box: 0/4</a:t>
            </a:r>
          </a:p>
        </p:txBody>
      </p:sp>
      <p:sp>
        <p:nvSpPr>
          <p:cNvPr id="9" name="">
            <a:extLst xmlns:a="http://schemas.openxmlformats.org/drawingml/2006/main">
              <a:ext uri="{FF2B5EF4-FFF2-40B4-BE49-F238E27FC236}">
                <a16:creationId xmlns:a16="http://schemas.microsoft.com/office/drawing/2014/main" id="{26E04DF4-8C6D-438F-BA67-456C9C8549A0}"/>
              </a:ext>
            </a:extLst>
          </p:cNvPr>
          <p:cNvSpPr>
            <a:spLocks xmlns:a="http://schemas.openxmlformats.org/drawingml/2006/main" noGrp="1"/>
          </p:cNvSpPr>
          <p:nvPr/>
        </p:nvSpPr>
        <p:spPr>
          <a:xfrm xmlns:a="http://schemas.openxmlformats.org/drawingml/2006/main">
            <a:off x="7943850" y="1838325"/>
            <a:ext cx="3619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74747"/>
                </a:solidFill>
                <a:latin typeface="Bitstream Charter"/>
                <a:ea typeface="Bitstream Charter"/>
                <a:cs typeface="Bitstream Charter"/>
              </a:defRPr>
            </a:pPr>
            <a:r>
              <a:rPr sz="3375" b="1">
                <a:solidFill>
                  <a:srgbClr val="B74747"/>
                </a:solidFill>
                <a:latin typeface="Bitstream Charter"/>
                <a:ea typeface="Bitstream Charter"/>
                <a:cs typeface="Bitstream Charter"/>
              </a:rPr>
              <a:t>0 detection</a:t>
            </a:r>
          </a:p>
        </p:txBody>
      </p:sp>
      <p:sp>
        <p:nvSpPr>
          <p:cNvPr id="10" name="">
            <a:extLst xmlns:a="http://schemas.openxmlformats.org/drawingml/2006/main">
              <a:ext uri="{FF2B5EF4-FFF2-40B4-BE49-F238E27FC236}">
                <a16:creationId xmlns:a16="http://schemas.microsoft.com/office/drawing/2014/main" id="{23FA34B5-71F8-4F6A-8494-2509592F8549}"/>
              </a:ext>
            </a:extLst>
          </p:cNvPr>
          <p:cNvSpPr>
            <a:spLocks xmlns:a="http://schemas.openxmlformats.org/drawingml/2006/main" noGrp="1"/>
          </p:cNvSpPr>
          <p:nvPr/>
        </p:nvSpPr>
        <p:spPr>
          <a:xfrm xmlns:a="http://schemas.openxmlformats.org/drawingml/2006/main">
            <a:off x="7943850" y="2714625"/>
            <a:ext cx="3571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3C"/>
                </a:solidFill>
                <a:latin typeface="Bitstream Charter"/>
                <a:ea typeface="Bitstream Charter"/>
                <a:cs typeface="Bitstream Charter"/>
              </a:defRPr>
            </a:pPr>
            <a:r>
              <a:rPr sz="2175" b="0">
                <a:solidFill>
                  <a:srgbClr val="152B3C"/>
                </a:solidFill>
                <a:latin typeface="Bitstream Charter"/>
                <a:ea typeface="Bitstream Charter"/>
                <a:cs typeface="Bitstream Charter"/>
              </a:rPr>
              <a:t>Noise làm Laplacian tăng</a:t>
            </a:r>
          </a:p>
          <a:p xmlns:a="http://schemas.openxmlformats.org/drawingml/2006/main">
            <a:pPr>
              <a:defRPr sz="2175" b="0">
                <a:solidFill>
                  <a:srgbClr val="152B3C"/>
                </a:solidFill>
                <a:latin typeface="Bitstream Charter"/>
                <a:ea typeface="Bitstream Charter"/>
                <a:cs typeface="Bitstream Charter"/>
              </a:defRPr>
            </a:pPr>
            <a:r>
              <a:rPr sz="2175" b="0">
                <a:solidFill>
                  <a:srgbClr val="152B3C"/>
                </a:solidFill>
                <a:latin typeface="Bitstream Charter"/>
                <a:ea typeface="Bitstream Charter"/>
                <a:cs typeface="Bitstream Charter"/>
              </a:rPr>
              <a:t>Proxy coi ảnh là khỏe</a:t>
            </a:r>
          </a:p>
          <a:p xmlns:a="http://schemas.openxmlformats.org/drawingml/2006/main">
            <a:pPr>
              <a:defRPr sz="2175" b="0">
                <a:solidFill>
                  <a:srgbClr val="152B3C"/>
                </a:solidFill>
                <a:latin typeface="Bitstream Charter"/>
                <a:ea typeface="Bitstream Charter"/>
                <a:cs typeface="Bitstream Charter"/>
              </a:defRPr>
            </a:pPr>
            <a:r>
              <a:rPr sz="2175" b="0">
                <a:solidFill>
                  <a:srgbClr val="152B3C"/>
                </a:solidFill>
                <a:latin typeface="Bitstream Charter"/>
                <a:ea typeface="Bitstream Charter"/>
                <a:cs typeface="Bitstream Charter"/>
              </a:rPr>
              <a:t>dù YOLO không còn box</a:t>
            </a:r>
          </a:p>
        </p:txBody>
      </p:sp>
      <p:sp>
        <p:nvSpPr>
          <p:cNvPr id="11" name="">
            <a:extLst xmlns:a="http://schemas.openxmlformats.org/drawingml/2006/main">
              <a:ext uri="{FF2B5EF4-FFF2-40B4-BE49-F238E27FC236}">
                <a16:creationId xmlns:a16="http://schemas.microsoft.com/office/drawing/2014/main" id="{68B5DD43-D014-498F-AC2A-CF6E2983998A}"/>
              </a:ext>
            </a:extLst>
          </p:cNvPr>
          <p:cNvSpPr>
            <a:spLocks xmlns:a="http://schemas.openxmlformats.org/drawingml/2006/main" noGrp="1"/>
          </p:cNvSpPr>
          <p:nvPr/>
        </p:nvSpPr>
        <p:spPr>
          <a:xfrm xmlns:a="http://schemas.openxmlformats.org/drawingml/2006/main">
            <a:off x="7943850" y="4829175"/>
            <a:ext cx="3571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7"/>
                </a:solidFill>
                <a:latin typeface="Bitstream Charter"/>
                <a:ea typeface="Bitstream Charter"/>
                <a:cs typeface="Bitstream Charter"/>
              </a:defRPr>
            </a:pPr>
            <a:r>
              <a:rPr sz="1875" b="0">
                <a:solidFill>
                  <a:srgbClr val="536877"/>
                </a:solidFill>
                <a:latin typeface="Bitstream Charter"/>
                <a:ea typeface="Bitstream Charter"/>
                <a:cs typeface="Bitstream Charter"/>
              </a:rPr>
              <a:t>Entropy cũng gần giữ nguyên</a:t>
            </a:r>
          </a:p>
          <a:p xmlns:a="http://schemas.openxmlformats.org/drawingml/2006/main">
            <a:pPr>
              <a:defRPr sz="1875" b="0">
                <a:solidFill>
                  <a:srgbClr val="536877"/>
                </a:solidFill>
                <a:latin typeface="Bitstream Charter"/>
                <a:ea typeface="Bitstream Charter"/>
                <a:cs typeface="Bitstream Charter"/>
              </a:defRPr>
            </a:pPr>
            <a:r>
              <a:rPr sz="1875" b="0">
                <a:solidFill>
                  <a:srgbClr val="536877"/>
                </a:solidFill>
                <a:latin typeface="Bitstream Charter"/>
                <a:ea typeface="Bitstream Charter"/>
                <a:cs typeface="Bitstream Charter"/>
              </a:rPr>
              <a:t>7,776 so với 7,848 bits</a:t>
            </a:r>
          </a:p>
        </p:txBody>
      </p:sp>
    </p:spTree>
    <p:extLst>
      <p:ext uri="{BB962C8B-B14F-4D97-AF65-F5344CB8AC3E}">
        <p14:creationId xmlns:p14="http://schemas.microsoft.com/office/powerpoint/2010/main" val="1600989556"/>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0E0CF41-F7AD-4254-897A-AFEB5F286A58}"/>
              </a:ext>
            </a:extLst>
          </p:cNvPr>
          <p:cNvSpPr>
            <a:spLocks xmlns:a="http://schemas.openxmlformats.org/drawingml/2006/main" noGrp="1"/>
          </p:cNvSpPr>
          <p:nvPr/>
        </p:nvSpPr>
        <p:spPr>
          <a:xfrm xmlns:a="http://schemas.openxmlformats.org/drawingml/2006/main">
            <a:off x="514350" y="323850"/>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C"/>
                </a:solidFill>
                <a:latin typeface="Bitstream Charter"/>
                <a:ea typeface="Bitstream Charter"/>
                <a:cs typeface="Bitstream Charter"/>
              </a:defRPr>
            </a:pPr>
            <a:r>
              <a:rPr sz="3300" b="1">
                <a:solidFill>
                  <a:srgbClr val="152B3C"/>
                </a:solidFill>
                <a:latin typeface="Bitstream Charter"/>
                <a:ea typeface="Bitstream Charter"/>
                <a:cs typeface="Bitstream Charter"/>
              </a:rPr>
              <a:t>Kết quả tại severity = 1,00</a:t>
            </a:r>
          </a:p>
        </p:txBody>
      </p:sp>
      <p:sp>
        <p:nvSpPr>
          <p:cNvPr id="2" name="">
            <a:extLst xmlns:a="http://schemas.openxmlformats.org/drawingml/2006/main">
              <a:ext uri="{FF2B5EF4-FFF2-40B4-BE49-F238E27FC236}">
                <a16:creationId xmlns:a16="http://schemas.microsoft.com/office/drawing/2014/main" id="{E00D8412-AA9B-4D82-8525-8D7D8C8474B1}"/>
              </a:ext>
            </a:extLst>
          </p:cNvPr>
          <p:cNvSpPr>
            <a:spLocks xmlns:a="http://schemas.openxmlformats.org/drawingml/2006/main" noGrp="1"/>
          </p:cNvSpPr>
          <p:nvPr/>
        </p:nvSpPr>
        <p:spPr>
          <a:xfrm xmlns:a="http://schemas.openxmlformats.org/drawingml/2006/main">
            <a:off x="11334750" y="643890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7"/>
                </a:solidFill>
                <a:latin typeface="Bitstream Charter"/>
                <a:ea typeface="Bitstream Charter"/>
                <a:cs typeface="Bitstream Charter"/>
              </a:defRPr>
            </a:pPr>
            <a:r>
              <a:rPr sz="1350" b="0">
                <a:solidFill>
                  <a:srgbClr val="536877"/>
                </a:solidFill>
                <a:latin typeface="Bitstream Charter"/>
                <a:ea typeface="Bitstream Charter"/>
                <a:cs typeface="Bitstream Charter"/>
              </a:rPr>
              <a:t>07</a:t>
            </a:r>
          </a:p>
        </p:txBody>
      </p:sp>
      <p:graphicFrame>
        <p:nvGraphicFramePr>
          <p:cNvPr id="7" name="Chart"/>
          <p:cNvGraphicFramePr/>
          <p:nvPr/>
        </p:nvGraphicFramePr>
        <p:xfrm>
          <a:off xmlns:a="http://schemas.openxmlformats.org/drawingml/2006/main" x="609600" y="1409700"/>
          <a:ext xmlns:a="http://schemas.openxmlformats.org/drawingml/2006/main" cx="10934700" cy="4029075"/>
        </p:xfrm>
        <a:graphic xmlns:a="http://schemas.openxmlformats.org/drawingml/2006/main">
          <a:graphicData uri="http://schemas.openxmlformats.org/drawingml/2006/chart">
            <c:chart xmlns:r="http://schemas.openxmlformats.org/officeDocument/2006/relationships" xmlns:c="http://schemas.openxmlformats.org/drawingml/2006/chart" r:id="R7f3114681e534640"/>
          </a:graphicData>
        </a:graphic>
      </p:graphicFrame>
      <p:sp>
        <p:nvSpPr>
          <p:cNvPr id="4" name="">
            <a:extLst xmlns:a="http://schemas.openxmlformats.org/drawingml/2006/main">
              <a:ext uri="{FF2B5EF4-FFF2-40B4-BE49-F238E27FC236}">
                <a16:creationId xmlns:a16="http://schemas.microsoft.com/office/drawing/2014/main" id="{E2DF3D6E-0E6C-43EB-AACF-4C9F9950BB0E}"/>
              </a:ext>
            </a:extLst>
          </p:cNvPr>
          <p:cNvSpPr>
            <a:spLocks xmlns:a="http://schemas.openxmlformats.org/drawingml/2006/main" noGrp="1"/>
          </p:cNvSpPr>
          <p:nvPr/>
        </p:nvSpPr>
        <p:spPr>
          <a:xfrm xmlns:a="http://schemas.openxmlformats.org/drawingml/2006/main">
            <a:off x="676275" y="571500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2B3C"/>
                </a:solidFill>
                <a:latin typeface="Bitstream Charter"/>
                <a:ea typeface="Bitstream Charter"/>
                <a:cs typeface="Bitstream Charter"/>
              </a:defRPr>
            </a:pPr>
            <a:r>
              <a:rPr sz="2100" b="1">
                <a:solidFill>
                  <a:srgbClr val="152B3C"/>
                </a:solidFill>
                <a:latin typeface="Bitstream Charter"/>
                <a:ea typeface="Bitstream Charter"/>
                <a:cs typeface="Bitstream Charter"/>
              </a:rPr>
              <a:t>Noise đơn: proxy 0,997 nhưng chỉ giữ 3/4 box</a:t>
            </a:r>
          </a:p>
          <a:p xmlns:a="http://schemas.openxmlformats.org/drawingml/2006/main">
            <a:pPr>
              <a:defRPr sz="2100" b="1">
                <a:solidFill>
                  <a:srgbClr val="152B3C"/>
                </a:solidFill>
                <a:latin typeface="Bitstream Charter"/>
                <a:ea typeface="Bitstream Charter"/>
                <a:cs typeface="Bitstream Charter"/>
              </a:defRPr>
            </a:pPr>
            <a:r>
              <a:rPr sz="2100" b="1">
                <a:solidFill>
                  <a:srgbClr val="152B3C"/>
                </a:solidFill>
                <a:latin typeface="Bitstream Charter"/>
                <a:ea typeface="Bitstream Charter"/>
                <a:cs typeface="Bitstream Charter"/>
              </a:rPr>
              <a:t>Blur + noise: proxy 1,000 nhưng giữ 0/4 box</a:t>
            </a:r>
          </a:p>
        </p:txBody>
      </p:sp>
    </p:spTree>
    <p:extLst>
      <p:ext uri="{BB962C8B-B14F-4D97-AF65-F5344CB8AC3E}">
        <p14:creationId xmlns:p14="http://schemas.microsoft.com/office/powerpoint/2010/main" val="1773465154"/>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516276-951E-49E4-B085-58E9F8FBF45A}"/>
              </a:ext>
            </a:extLst>
          </p:cNvPr>
          <p:cNvSpPr>
            <a:spLocks xmlns:a="http://schemas.openxmlformats.org/drawingml/2006/main" noGrp="1"/>
          </p:cNvSpPr>
          <p:nvPr/>
        </p:nvSpPr>
        <p:spPr>
          <a:xfrm xmlns:a="http://schemas.openxmlformats.org/drawingml/2006/main">
            <a:off x="514350" y="323850"/>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C"/>
                </a:solidFill>
                <a:latin typeface="Bitstream Charter"/>
                <a:ea typeface="Bitstream Charter"/>
                <a:cs typeface="Bitstream Charter"/>
              </a:defRPr>
            </a:pPr>
            <a:r>
              <a:rPr sz="3300" b="1">
                <a:solidFill>
                  <a:srgbClr val="152B3C"/>
                </a:solidFill>
                <a:latin typeface="Bitstream Charter"/>
                <a:ea typeface="Bitstream Charter"/>
                <a:cs typeface="Bitstream Charter"/>
              </a:rPr>
              <a:t>Kết luận và hướng cải thiện</a:t>
            </a:r>
          </a:p>
        </p:txBody>
      </p:sp>
      <p:sp>
        <p:nvSpPr>
          <p:cNvPr id="2" name="">
            <a:extLst xmlns:a="http://schemas.openxmlformats.org/drawingml/2006/main">
              <a:ext uri="{FF2B5EF4-FFF2-40B4-BE49-F238E27FC236}">
                <a16:creationId xmlns:a16="http://schemas.microsoft.com/office/drawing/2014/main" id="{81C2A0F3-A71F-45BD-81F1-555AD9122FA4}"/>
              </a:ext>
            </a:extLst>
          </p:cNvPr>
          <p:cNvSpPr>
            <a:spLocks xmlns:a="http://schemas.openxmlformats.org/drawingml/2006/main" noGrp="1"/>
          </p:cNvSpPr>
          <p:nvPr/>
        </p:nvSpPr>
        <p:spPr>
          <a:xfrm xmlns:a="http://schemas.openxmlformats.org/drawingml/2006/main">
            <a:off x="11334750" y="643890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7"/>
                </a:solidFill>
                <a:latin typeface="Bitstream Charter"/>
                <a:ea typeface="Bitstream Charter"/>
                <a:cs typeface="Bitstream Charter"/>
              </a:defRPr>
            </a:pPr>
            <a:r>
              <a:rPr sz="1350" b="0">
                <a:solidFill>
                  <a:srgbClr val="536877"/>
                </a:solidFill>
                <a:latin typeface="Bitstream Charter"/>
                <a:ea typeface="Bitstream Charter"/>
                <a:cs typeface="Bitstream Charter"/>
              </a:rPr>
              <a:t>08</a:t>
            </a:r>
          </a:p>
        </p:txBody>
      </p:sp>
      <p:sp>
        <p:nvSpPr>
          <p:cNvPr id="3" name="">
            <a:extLst xmlns:a="http://schemas.openxmlformats.org/drawingml/2006/main">
              <a:ext uri="{FF2B5EF4-FFF2-40B4-BE49-F238E27FC236}">
                <a16:creationId xmlns:a16="http://schemas.microsoft.com/office/drawing/2014/main" id="{5C94374A-AECF-4F16-8968-116B8DB8B637}"/>
              </a:ext>
            </a:extLst>
          </p:cNvPr>
          <p:cNvSpPr>
            <a:spLocks xmlns:a="http://schemas.openxmlformats.org/drawingml/2006/main" noGrp="1"/>
          </p:cNvSpPr>
          <p:nvPr/>
        </p:nvSpPr>
        <p:spPr>
          <a:xfrm xmlns:a="http://schemas.openxmlformats.org/drawingml/2006/main">
            <a:off x="533400" y="13906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6B9B"/>
                </a:solidFill>
                <a:latin typeface="Bitstream Charter"/>
                <a:ea typeface="Bitstream Charter"/>
                <a:cs typeface="Bitstream Charter"/>
              </a:defRPr>
            </a:pPr>
            <a:r>
              <a:rPr sz="2325" b="1">
                <a:solidFill>
                  <a:srgbClr val="176B9B"/>
                </a:solidFill>
                <a:latin typeface="Bitstream Charter"/>
                <a:ea typeface="Bitstream Charter"/>
                <a:cs typeface="Bitstream Charter"/>
              </a:rPr>
              <a:t>Kết luận từ benchmark</a:t>
            </a:r>
          </a:p>
        </p:txBody>
      </p:sp>
      <p:sp>
        <p:nvSpPr>
          <p:cNvPr id="4" name="">
            <a:extLst xmlns:a="http://schemas.openxmlformats.org/drawingml/2006/main">
              <a:ext uri="{FF2B5EF4-FFF2-40B4-BE49-F238E27FC236}">
                <a16:creationId xmlns:a16="http://schemas.microsoft.com/office/drawing/2014/main" id="{1DB3C3A8-7928-4932-AAA9-D09198319509}"/>
              </a:ext>
            </a:extLst>
          </p:cNvPr>
          <p:cNvSpPr>
            <a:spLocks xmlns:a="http://schemas.openxmlformats.org/drawingml/2006/main" noGrp="1"/>
          </p:cNvSpPr>
          <p:nvPr/>
        </p:nvSpPr>
        <p:spPr>
          <a:xfrm xmlns:a="http://schemas.openxmlformats.org/drawingml/2006/main">
            <a:off x="533400" y="2000250"/>
            <a:ext cx="10668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B3C"/>
                </a:solidFill>
                <a:latin typeface="Bitstream Charter"/>
                <a:ea typeface="Bitstream Charter"/>
                <a:cs typeface="Bitstream Charter"/>
              </a:defRPr>
            </a:pPr>
            <a:r>
              <a:rPr sz="2250" b="0">
                <a:solidFill>
                  <a:srgbClr val="152B3C"/>
                </a:solidFill>
                <a:latin typeface="Bitstream Charter"/>
                <a:ea typeface="Bitstream Charter"/>
                <a:cs typeface="Bitstream Charter"/>
              </a:rPr>
              <a:t>Metric đơn giản phản ứng với blur và cháy sáng</a:t>
            </a:r>
          </a:p>
          <a:p xmlns:a="http://schemas.openxmlformats.org/drawingml/2006/main">
            <a:pPr>
              <a:defRPr sz="2250" b="0">
                <a:solidFill>
                  <a:srgbClr val="152B3C"/>
                </a:solidFill>
                <a:latin typeface="Bitstream Charter"/>
                <a:ea typeface="Bitstream Charter"/>
                <a:cs typeface="Bitstream Charter"/>
              </a:defRPr>
            </a:pPr>
            <a:r>
              <a:rPr sz="2250" b="0">
                <a:solidFill>
                  <a:srgbClr val="152B3C"/>
                </a:solidFill>
                <a:latin typeface="Bitstream Charter"/>
                <a:ea typeface="Bitstream Charter"/>
                <a:cs typeface="Bitstream Charter"/>
              </a:rPr>
              <a:t>Noise có thể làm health proxy tăng sai</a:t>
            </a:r>
          </a:p>
          <a:p xmlns:a="http://schemas.openxmlformats.org/drawingml/2006/main">
            <a:pPr>
              <a:defRPr sz="2250" b="0">
                <a:solidFill>
                  <a:srgbClr val="152B3C"/>
                </a:solidFill>
                <a:latin typeface="Bitstream Charter"/>
                <a:ea typeface="Bitstream Charter"/>
                <a:cs typeface="Bitstream Charter"/>
              </a:defRPr>
            </a:pPr>
            <a:r>
              <a:rPr sz="2250" b="0">
                <a:solidFill>
                  <a:srgbClr val="152B3C"/>
                </a:solidFill>
                <a:latin typeface="Bitstream Charter"/>
                <a:ea typeface="Bitstream Charter"/>
                <a:cs typeface="Bitstream Charter"/>
              </a:rPr>
              <a:t>Health target GSHI giảm theo công thức đặt trước</a:t>
            </a:r>
          </a:p>
        </p:txBody>
      </p:sp>
      <p:sp>
        <p:nvSpPr>
          <p:cNvPr id="5" name="">
            <a:extLst xmlns:a="http://schemas.openxmlformats.org/drawingml/2006/main">
              <a:ext uri="{FF2B5EF4-FFF2-40B4-BE49-F238E27FC236}">
                <a16:creationId xmlns:a16="http://schemas.microsoft.com/office/drawing/2014/main" id="{B4BCDDF5-F2CA-4EF0-A031-12E5E01AB7E3}"/>
              </a:ext>
            </a:extLst>
          </p:cNvPr>
          <p:cNvSpPr>
            <a:spLocks xmlns:a="http://schemas.openxmlformats.org/drawingml/2006/main" noGrp="1"/>
          </p:cNvSpPr>
          <p:nvPr/>
        </p:nvSpPr>
        <p:spPr>
          <a:xfrm xmlns:a="http://schemas.openxmlformats.org/drawingml/2006/main">
            <a:off x="533400" y="38862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6B9B"/>
                </a:solidFill>
                <a:latin typeface="Bitstream Charter"/>
                <a:ea typeface="Bitstream Charter"/>
                <a:cs typeface="Bitstream Charter"/>
              </a:defRPr>
            </a:pPr>
            <a:r>
              <a:rPr sz="2325" b="1">
                <a:solidFill>
                  <a:srgbClr val="176B9B"/>
                </a:solidFill>
                <a:latin typeface="Bitstream Charter"/>
                <a:ea typeface="Bitstream Charter"/>
                <a:cs typeface="Bitstream Charter"/>
              </a:rPr>
              <a:t>Đề xuất cho hệ ADAS</a:t>
            </a:r>
          </a:p>
        </p:txBody>
      </p:sp>
      <p:sp>
        <p:nvSpPr>
          <p:cNvPr id="6" name="">
            <a:extLst xmlns:a="http://schemas.openxmlformats.org/drawingml/2006/main">
              <a:ext uri="{FF2B5EF4-FFF2-40B4-BE49-F238E27FC236}">
                <a16:creationId xmlns:a16="http://schemas.microsoft.com/office/drawing/2014/main" id="{7FFD4380-E3BA-4D46-B115-54CFE429AE53}"/>
              </a:ext>
            </a:extLst>
          </p:cNvPr>
          <p:cNvSpPr>
            <a:spLocks xmlns:a="http://schemas.openxmlformats.org/drawingml/2006/main" noGrp="1"/>
          </p:cNvSpPr>
          <p:nvPr/>
        </p:nvSpPr>
        <p:spPr>
          <a:xfrm xmlns:a="http://schemas.openxmlformats.org/drawingml/2006/main">
            <a:off x="533400" y="44767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B3C"/>
                </a:solidFill>
                <a:latin typeface="Bitstream Charter"/>
                <a:ea typeface="Bitstream Charter"/>
                <a:cs typeface="Bitstream Charter"/>
              </a:defRPr>
            </a:pPr>
            <a:r>
              <a:rPr sz="2100" b="0">
                <a:solidFill>
                  <a:srgbClr val="152B3C"/>
                </a:solidFill>
                <a:latin typeface="Bitstream Charter"/>
                <a:ea typeface="Bitstream Charter"/>
                <a:cs typeface="Bitstream Charter"/>
              </a:rPr>
              <a:t>Khi phát hiện nhiều lỗi phối hợp, giảm tin cậy camera</a:t>
            </a:r>
          </a:p>
          <a:p xmlns:a="http://schemas.openxmlformats.org/drawingml/2006/main">
            <a:pPr>
              <a:defRPr sz="2100" b="0">
                <a:solidFill>
                  <a:srgbClr val="152B3C"/>
                </a:solidFill>
                <a:latin typeface="Bitstream Charter"/>
                <a:ea typeface="Bitstream Charter"/>
                <a:cs typeface="Bitstream Charter"/>
              </a:defRPr>
            </a:pPr>
            <a:r>
              <a:rPr sz="2100" b="0">
                <a:solidFill>
                  <a:srgbClr val="152B3C"/>
                </a:solidFill>
                <a:latin typeface="Bitstream Charter"/>
                <a:ea typeface="Bitstream Charter"/>
                <a:cs typeface="Bitstream Charter"/>
              </a:rPr>
              <a:t>và kiểm tra thêm tín hiệu perception hoặc sensor khác</a:t>
            </a:r>
          </a:p>
        </p:txBody>
      </p:sp>
      <p:sp>
        <p:nvSpPr>
          <p:cNvPr id="7" name="">
            <a:extLst xmlns:a="http://schemas.openxmlformats.org/drawingml/2006/main">
              <a:ext uri="{FF2B5EF4-FFF2-40B4-BE49-F238E27FC236}">
                <a16:creationId xmlns:a16="http://schemas.microsoft.com/office/drawing/2014/main" id="{A10298E8-5DE8-49FF-AABD-7026993ACA6B}"/>
              </a:ext>
            </a:extLst>
          </p:cNvPr>
          <p:cNvSpPr>
            <a:spLocks xmlns:a="http://schemas.openxmlformats.org/drawingml/2006/main" noGrp="1"/>
          </p:cNvSpPr>
          <p:nvPr/>
        </p:nvSpPr>
        <p:spPr>
          <a:xfrm xmlns:a="http://schemas.openxmlformats.org/drawingml/2006/main">
            <a:off x="533400" y="56864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7"/>
                </a:solidFill>
                <a:latin typeface="Bitstream Charter"/>
                <a:ea typeface="Bitstream Charter"/>
                <a:cs typeface="Bitstream Charter"/>
              </a:defRPr>
            </a:pPr>
            <a:r>
              <a:rPr sz="1875" b="0">
                <a:solidFill>
                  <a:srgbClr val="536877"/>
                </a:solidFill>
                <a:latin typeface="Bitstream Charter"/>
                <a:ea typeface="Bitstream Charter"/>
                <a:cs typeface="Bitstream Charter"/>
              </a:rPr>
              <a:t>Giới hạn: 1 ảnh, simulator giản lược, thiếu ground truth</a:t>
            </a:r>
          </a:p>
          <a:p xmlns:a="http://schemas.openxmlformats.org/drawingml/2006/main">
            <a:pPr>
              <a:defRPr sz="1875" b="0">
                <a:solidFill>
                  <a:srgbClr val="536877"/>
                </a:solidFill>
                <a:latin typeface="Bitstream Charter"/>
                <a:ea typeface="Bitstream Charter"/>
                <a:cs typeface="Bitstream Charter"/>
              </a:defRPr>
            </a:pPr>
            <a:r>
              <a:rPr sz="1875" b="0">
                <a:solidFill>
                  <a:srgbClr val="536877"/>
                </a:solidFill>
                <a:latin typeface="Bitstream Charter"/>
                <a:ea typeface="Bitstream Charter"/>
                <a:cs typeface="Bitstream Charter"/>
              </a:rPr>
              <a:t>Bước tiếp: thêm ảnh ngày/đêm và đánh giá detection với nhãn</a:t>
            </a:r>
          </a:p>
        </p:txBody>
      </p:sp>
    </p:spTree>
    <p:extLst>
      <p:ext uri="{BB962C8B-B14F-4D97-AF65-F5344CB8AC3E}">
        <p14:creationId xmlns:p14="http://schemas.microsoft.com/office/powerpoint/2010/main" val="9995837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2026-10-05T10:48:07.3570000Z</dcterms:created>
  <dcterms:modified xsi:type="dcterms:W3CDTF">2026-10-05T10:48:07.3570000Z</dcterms:modified>
</coreProperties>
</file>